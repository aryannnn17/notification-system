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-1"/>
            <a:ext cx="12191697" cy="73154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6784847"/>
            <a:ext cx="12191697" cy="73153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106169" y="1314704"/>
            <a:ext cx="9966961" cy="70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4800">
                <a:solidFill>
                  <a:srgbClr val="FFFFFF"/>
                </a:solidFill>
              </a:defRPr>
            </a:lvl1pPr>
          </a:lstStyle>
          <a:p>
            <a:pPr/>
            <a:r>
              <a:t>Scalable Notification System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106169" y="2909937"/>
            <a:ext cx="9966961" cy="392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400">
                <a:solidFill>
                  <a:srgbClr val="AABBCC"/>
                </a:solidFill>
              </a:defRPr>
            </a:lvl1pPr>
          </a:lstStyle>
          <a:p>
            <a:pPr/>
            <a:r>
              <a:t>A Microservices-Based Multi-Channel Notification Platform</a:t>
            </a:r>
          </a:p>
        </p:txBody>
      </p:sp>
      <p:sp>
        <p:nvSpPr>
          <p:cNvPr id="98" name="Rectangle 5"/>
          <p:cNvSpPr/>
          <p:nvPr/>
        </p:nvSpPr>
        <p:spPr>
          <a:xfrm>
            <a:off x="5029200" y="3840479"/>
            <a:ext cx="2103121" cy="54865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6"/>
          <p:cNvSpPr txBox="1"/>
          <p:nvPr/>
        </p:nvSpPr>
        <p:spPr>
          <a:xfrm>
            <a:off x="1024688" y="4893331"/>
            <a:ext cx="10129923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CCCCCC"/>
                </a:solidFill>
              </a:defRPr>
            </a:lvl1pPr>
          </a:lstStyle>
          <a:p>
            <a:pPr/>
            <a:r>
              <a:t>Email  •  SMS  •  Priority-Based Processing  •  Kafka Event Streaming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1106169" y="5189799"/>
            <a:ext cx="99669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600">
                <a:solidFill>
                  <a:srgbClr val="888888"/>
                </a:solidFill>
              </a:defRPr>
            </a:lvl1pPr>
          </a:lstStyle>
          <a:p>
            <a:pPr/>
            <a:r>
              <a:t>Built with Spring Boot, Apache Kafka, Redis &amp; MySQL</a:t>
            </a:r>
          </a:p>
        </p:txBody>
      </p:sp>
      <p:sp>
        <p:nvSpPr>
          <p:cNvPr id="101" name="TextBox 4"/>
          <p:cNvSpPr txBox="1"/>
          <p:nvPr/>
        </p:nvSpPr>
        <p:spPr>
          <a:xfrm>
            <a:off x="1106170" y="4001441"/>
            <a:ext cx="996696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C5DAEF"/>
                </a:solidFill>
              </a:defRPr>
            </a:lvl1pPr>
          </a:lstStyle>
          <a:p>
            <a:pPr/>
            <a:r>
              <a:t>Name : Aryan Jigneshbhai Bhagat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05" name="Rectangle 3"/>
          <p:cNvSpPr/>
          <p:nvPr/>
        </p:nvSpPr>
        <p:spPr>
          <a:xfrm>
            <a:off x="731519" y="1051560"/>
            <a:ext cx="2286001" cy="45721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4"/>
          <p:cNvSpPr txBox="1"/>
          <p:nvPr/>
        </p:nvSpPr>
        <p:spPr>
          <a:xfrm>
            <a:off x="777239" y="1463039"/>
            <a:ext cx="6309361" cy="3469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>
                <a:solidFill>
                  <a:srgbClr val="CCCCCC"/>
                </a:solidFill>
              </a:defRPr>
            </a:pPr>
            <a:r>
              <a:t>Modern applications need to send notifications across multiple channels (email, SMS, push) reliably</a:t>
            </a:r>
          </a:p>
          <a:p>
            <a:pPr>
              <a:spcBef>
                <a:spcPts val="800"/>
              </a:spcBef>
              <a:defRPr>
                <a:solidFill>
                  <a:srgbClr val="CCCCCC"/>
                </a:solidFill>
              </a:defRPr>
            </a:pPr>
            <a:r>
              <a:t>Handling high-throughput notification delivery without blocking user requests</a:t>
            </a:r>
          </a:p>
          <a:p>
            <a:pPr>
              <a:spcBef>
                <a:spcPts val="800"/>
              </a:spcBef>
              <a:defRPr>
                <a:solidFill>
                  <a:srgbClr val="CCCCCC"/>
                </a:solidFill>
              </a:defRPr>
            </a:pPr>
            <a:r>
              <a:t>Ensuring notifications are prioritized — transactional alerts must not be delayed by promotional messages</a:t>
            </a:r>
          </a:p>
          <a:p>
            <a:pPr>
              <a:spcBef>
                <a:spcPts val="800"/>
              </a:spcBef>
              <a:defRPr>
                <a:solidFill>
                  <a:srgbClr val="CCCCCC"/>
                </a:solidFill>
              </a:defRPr>
            </a:pPr>
            <a:r>
              <a:t>Preventing duplicate notifications from being sent to users</a:t>
            </a:r>
          </a:p>
          <a:p>
            <a:pPr>
              <a:spcBef>
                <a:spcPts val="800"/>
              </a:spcBef>
              <a:defRPr>
                <a:solidFill>
                  <a:srgbClr val="CCCCCC"/>
                </a:solidFill>
              </a:defRPr>
            </a:pPr>
            <a:r>
              <a:t>Respecting user preferences (opt-in/out, quiet hours) for each channel</a:t>
            </a:r>
          </a:p>
          <a:p>
            <a:pPr>
              <a:spcBef>
                <a:spcPts val="800"/>
              </a:spcBef>
              <a:defRPr>
                <a:solidFill>
                  <a:srgbClr val="CCCCCC"/>
                </a:solidFill>
              </a:defRPr>
            </a:pPr>
            <a:r>
              <a:t>Scaling independently per channel as demand grows</a:t>
            </a:r>
          </a:p>
        </p:txBody>
      </p:sp>
      <p:sp>
        <p:nvSpPr>
          <p:cNvPr id="107" name="Rounded Rectangle 5"/>
          <p:cNvSpPr/>
          <p:nvPr/>
        </p:nvSpPr>
        <p:spPr>
          <a:xfrm>
            <a:off x="7772400" y="1463039"/>
            <a:ext cx="3840480" cy="45720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6"/>
          <p:cNvSpPr txBox="1"/>
          <p:nvPr/>
        </p:nvSpPr>
        <p:spPr>
          <a:xfrm>
            <a:off x="8092439" y="1737360"/>
            <a:ext cx="320040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FD7E14"/>
                </a:solidFill>
              </a:defRPr>
            </a:lvl1pPr>
          </a:lstStyle>
          <a:p>
            <a:pPr/>
            <a:r>
              <a:t>Key Challenges</a:t>
            </a:r>
          </a:p>
        </p:txBody>
      </p:sp>
      <p:sp>
        <p:nvSpPr>
          <p:cNvPr id="109" name="TextBox 7"/>
          <p:cNvSpPr txBox="1"/>
          <p:nvPr/>
        </p:nvSpPr>
        <p:spPr>
          <a:xfrm>
            <a:off x="8092439" y="2377439"/>
            <a:ext cx="3200401" cy="3058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CCCCCC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⚡ </a:t>
            </a:r>
            <a:r>
              <a:t>High throughput &amp; low latency</a:t>
            </a:r>
          </a:p>
          <a:p>
            <a:pPr>
              <a:spcBef>
                <a:spcPts val="1200"/>
              </a:spcBef>
              <a:defRPr sz="1600">
                <a:solidFill>
                  <a:srgbClr val="CCCCCC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🔄 </a:t>
            </a:r>
            <a:r>
              <a:t>Multi-channel delivery</a:t>
            </a:r>
          </a:p>
          <a:p>
            <a:pPr>
              <a:spcBef>
                <a:spcPts val="1200"/>
              </a:spcBef>
              <a:defRPr sz="1600">
                <a:solidFill>
                  <a:srgbClr val="CCCCCC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📊 </a:t>
            </a:r>
            <a:r>
              <a:t>Priority-based processing</a:t>
            </a:r>
          </a:p>
          <a:p>
            <a:pPr>
              <a:spcBef>
                <a:spcPts val="1200"/>
              </a:spcBef>
              <a:defRPr sz="1600">
                <a:solidFill>
                  <a:srgbClr val="CCCCCC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🛡️ </a:t>
            </a:r>
            <a:r>
              <a:t>Duplicate prevention</a:t>
            </a:r>
          </a:p>
          <a:p>
            <a:pPr>
              <a:spcBef>
                <a:spcPts val="1200"/>
              </a:spcBef>
              <a:defRPr sz="1600">
                <a:solidFill>
                  <a:srgbClr val="CCCCCC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👤 </a:t>
            </a:r>
            <a:r>
              <a:t>User preference management</a:t>
            </a:r>
          </a:p>
          <a:p>
            <a:pPr>
              <a:spcBef>
                <a:spcPts val="1200"/>
              </a:spcBef>
              <a:defRPr sz="1600">
                <a:solidFill>
                  <a:srgbClr val="CCCCCC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📈 </a:t>
            </a:r>
            <a:r>
              <a:t>Independent scalability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System Architecture Overview</a:t>
            </a:r>
          </a:p>
        </p:txBody>
      </p:sp>
      <p:sp>
        <p:nvSpPr>
          <p:cNvPr id="113" name="Rectangle 3"/>
          <p:cNvSpPr/>
          <p:nvPr/>
        </p:nvSpPr>
        <p:spPr>
          <a:xfrm>
            <a:off x="731519" y="1051560"/>
            <a:ext cx="3200401" cy="45721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ounded Rectangle 4"/>
          <p:cNvSpPr/>
          <p:nvPr/>
        </p:nvSpPr>
        <p:spPr>
          <a:xfrm>
            <a:off x="457200" y="1645920"/>
            <a:ext cx="2011680" cy="201168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5"/>
          <p:cNvSpPr/>
          <p:nvPr/>
        </p:nvSpPr>
        <p:spPr>
          <a:xfrm>
            <a:off x="457200" y="1645920"/>
            <a:ext cx="2011679" cy="54865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6"/>
          <p:cNvSpPr txBox="1"/>
          <p:nvPr/>
        </p:nvSpPr>
        <p:spPr>
          <a:xfrm>
            <a:off x="640079" y="1828800"/>
            <a:ext cx="16459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07BFF"/>
                </a:solidFill>
              </a:defRPr>
            </a:lvl1pPr>
          </a:lstStyle>
          <a:p>
            <a:pPr/>
            <a:r>
              <a:t>Client / API</a:t>
            </a:r>
          </a:p>
        </p:txBody>
      </p:sp>
      <p:sp>
        <p:nvSpPr>
          <p:cNvPr id="117" name="TextBox 7"/>
          <p:cNvSpPr txBox="1"/>
          <p:nvPr/>
        </p:nvSpPr>
        <p:spPr>
          <a:xfrm>
            <a:off x="640079" y="2651760"/>
            <a:ext cx="164592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CCCCCC"/>
                </a:solidFill>
              </a:defRPr>
            </a:lvl1pPr>
          </a:lstStyle>
          <a:p>
            <a:pPr/>
            <a:r>
              <a:t>POST /api/send-notification</a:t>
            </a:r>
          </a:p>
        </p:txBody>
      </p:sp>
      <p:sp>
        <p:nvSpPr>
          <p:cNvPr id="118" name="Rounded Rectangle 8"/>
          <p:cNvSpPr/>
          <p:nvPr/>
        </p:nvSpPr>
        <p:spPr>
          <a:xfrm>
            <a:off x="2743200" y="1645920"/>
            <a:ext cx="2011680" cy="201168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ectangle 9"/>
          <p:cNvSpPr/>
          <p:nvPr/>
        </p:nvSpPr>
        <p:spPr>
          <a:xfrm>
            <a:off x="2743200" y="1645920"/>
            <a:ext cx="2011679" cy="54865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10"/>
          <p:cNvSpPr txBox="1"/>
          <p:nvPr/>
        </p:nvSpPr>
        <p:spPr>
          <a:xfrm>
            <a:off x="2926079" y="1828800"/>
            <a:ext cx="164592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600">
                <a:solidFill>
                  <a:srgbClr val="6F42C1"/>
                </a:solidFill>
              </a:defRPr>
            </a:pPr>
            <a:r>
              <a:t>Notification</a:t>
            </a:r>
            <a:br/>
            <a:r>
              <a:t>Service</a:t>
            </a:r>
          </a:p>
        </p:txBody>
      </p:sp>
      <p:sp>
        <p:nvSpPr>
          <p:cNvPr id="121" name="TextBox 11"/>
          <p:cNvSpPr txBox="1"/>
          <p:nvPr/>
        </p:nvSpPr>
        <p:spPr>
          <a:xfrm>
            <a:off x="2926079" y="2651760"/>
            <a:ext cx="16459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Validates, deduplicates</a:t>
            </a:r>
            <a:br/>
            <a:r>
              <a:t>&amp; routes to Kafka</a:t>
            </a:r>
          </a:p>
        </p:txBody>
      </p:sp>
      <p:sp>
        <p:nvSpPr>
          <p:cNvPr id="122" name="Rounded Rectangle 12"/>
          <p:cNvSpPr/>
          <p:nvPr/>
        </p:nvSpPr>
        <p:spPr>
          <a:xfrm>
            <a:off x="5029200" y="1645920"/>
            <a:ext cx="2011680" cy="201168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Rectangle 13"/>
          <p:cNvSpPr/>
          <p:nvPr/>
        </p:nvSpPr>
        <p:spPr>
          <a:xfrm>
            <a:off x="5029200" y="1645920"/>
            <a:ext cx="2011679" cy="54865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14"/>
          <p:cNvSpPr txBox="1"/>
          <p:nvPr/>
        </p:nvSpPr>
        <p:spPr>
          <a:xfrm>
            <a:off x="5212079" y="1828800"/>
            <a:ext cx="16459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D7E14"/>
                </a:solidFill>
              </a:defRPr>
            </a:lvl1pPr>
          </a:lstStyle>
          <a:p>
            <a:pPr/>
            <a:r>
              <a:t>Kafka Topics</a:t>
            </a:r>
          </a:p>
        </p:txBody>
      </p:sp>
      <p:sp>
        <p:nvSpPr>
          <p:cNvPr id="125" name="TextBox 15"/>
          <p:cNvSpPr txBox="1"/>
          <p:nvPr/>
        </p:nvSpPr>
        <p:spPr>
          <a:xfrm>
            <a:off x="5212079" y="2651760"/>
            <a:ext cx="1645921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priority-1 | priority-2 | priority-3</a:t>
            </a:r>
            <a:br/>
            <a:r>
              <a:t>Partitioned by priority key</a:t>
            </a:r>
          </a:p>
        </p:txBody>
      </p:sp>
      <p:sp>
        <p:nvSpPr>
          <p:cNvPr id="126" name="Rounded Rectangle 16"/>
          <p:cNvSpPr/>
          <p:nvPr/>
        </p:nvSpPr>
        <p:spPr>
          <a:xfrm>
            <a:off x="7315200" y="1645920"/>
            <a:ext cx="2011680" cy="201168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Rectangle 17"/>
          <p:cNvSpPr/>
          <p:nvPr/>
        </p:nvSpPr>
        <p:spPr>
          <a:xfrm>
            <a:off x="7315200" y="1645920"/>
            <a:ext cx="2011679" cy="54865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18"/>
          <p:cNvSpPr txBox="1"/>
          <p:nvPr/>
        </p:nvSpPr>
        <p:spPr>
          <a:xfrm>
            <a:off x="7498079" y="1828800"/>
            <a:ext cx="164592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600">
                <a:solidFill>
                  <a:srgbClr val="DC3545"/>
                </a:solidFill>
              </a:defRPr>
            </a:pPr>
            <a:r>
              <a:t>Priority</a:t>
            </a:r>
            <a:br/>
            <a:r>
              <a:t>Processors</a:t>
            </a:r>
          </a:p>
        </p:txBody>
      </p:sp>
      <p:sp>
        <p:nvSpPr>
          <p:cNvPr id="129" name="TextBox 19"/>
          <p:cNvSpPr txBox="1"/>
          <p:nvPr/>
        </p:nvSpPr>
        <p:spPr>
          <a:xfrm>
            <a:off x="7498079" y="2651760"/>
            <a:ext cx="16459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Processes notifications</a:t>
            </a:r>
            <a:br/>
            <a:r>
              <a:t>per priority level</a:t>
            </a:r>
          </a:p>
        </p:txBody>
      </p:sp>
      <p:sp>
        <p:nvSpPr>
          <p:cNvPr id="130" name="Rounded Rectangle 20"/>
          <p:cNvSpPr/>
          <p:nvPr/>
        </p:nvSpPr>
        <p:spPr>
          <a:xfrm>
            <a:off x="9601200" y="1645920"/>
            <a:ext cx="2011680" cy="201168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Rectangle 21"/>
          <p:cNvSpPr/>
          <p:nvPr/>
        </p:nvSpPr>
        <p:spPr>
          <a:xfrm>
            <a:off x="9601200" y="1645920"/>
            <a:ext cx="2011679" cy="54865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2"/>
          <p:cNvSpPr txBox="1"/>
          <p:nvPr/>
        </p:nvSpPr>
        <p:spPr>
          <a:xfrm>
            <a:off x="9784079" y="1828800"/>
            <a:ext cx="1645921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600">
                <a:solidFill>
                  <a:srgbClr val="28A745"/>
                </a:solidFill>
              </a:defRPr>
            </a:pPr>
            <a:r>
              <a:t>Channel</a:t>
            </a:r>
            <a:br/>
            <a:r>
              <a:t>Consumers</a:t>
            </a:r>
          </a:p>
        </p:txBody>
      </p:sp>
      <p:sp>
        <p:nvSpPr>
          <p:cNvPr id="133" name="TextBox 23"/>
          <p:cNvSpPr txBox="1"/>
          <p:nvPr/>
        </p:nvSpPr>
        <p:spPr>
          <a:xfrm>
            <a:off x="9784079" y="2651760"/>
            <a:ext cx="16459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Email | SMS</a:t>
            </a:r>
            <a:br/>
            <a:r>
              <a:t>Sends via providers</a:t>
            </a:r>
          </a:p>
        </p:txBody>
      </p:sp>
      <p:sp>
        <p:nvSpPr>
          <p:cNvPr id="134" name="TextBox 24"/>
          <p:cNvSpPr txBox="1"/>
          <p:nvPr/>
        </p:nvSpPr>
        <p:spPr>
          <a:xfrm>
            <a:off x="2514600" y="2377439"/>
            <a:ext cx="64008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007BFF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5" name="TextBox 25"/>
          <p:cNvSpPr txBox="1"/>
          <p:nvPr/>
        </p:nvSpPr>
        <p:spPr>
          <a:xfrm>
            <a:off x="4800600" y="2377439"/>
            <a:ext cx="64008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007BFF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6" name="TextBox 26"/>
          <p:cNvSpPr txBox="1"/>
          <p:nvPr/>
        </p:nvSpPr>
        <p:spPr>
          <a:xfrm>
            <a:off x="7086600" y="2377439"/>
            <a:ext cx="64008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007BFF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7" name="TextBox 27"/>
          <p:cNvSpPr txBox="1"/>
          <p:nvPr/>
        </p:nvSpPr>
        <p:spPr>
          <a:xfrm>
            <a:off x="9372600" y="2377439"/>
            <a:ext cx="64008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800">
                <a:solidFill>
                  <a:srgbClr val="007BFF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8" name="Rounded Rectangle 28"/>
          <p:cNvSpPr/>
          <p:nvPr/>
        </p:nvSpPr>
        <p:spPr>
          <a:xfrm>
            <a:off x="457200" y="4114800"/>
            <a:ext cx="11247120" cy="22860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9"/>
          <p:cNvSpPr txBox="1"/>
          <p:nvPr/>
        </p:nvSpPr>
        <p:spPr>
          <a:xfrm>
            <a:off x="777239" y="4297679"/>
            <a:ext cx="26517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007BFF"/>
                </a:solidFill>
              </a:defRPr>
            </a:lvl1pPr>
          </a:lstStyle>
          <a:p>
            <a:pPr/>
            <a:r>
              <a:t>Infrastructure Layer</a:t>
            </a:r>
          </a:p>
        </p:txBody>
      </p:sp>
      <p:sp>
        <p:nvSpPr>
          <p:cNvPr id="140" name="Rounded Rectangle 30"/>
          <p:cNvSpPr/>
          <p:nvPr/>
        </p:nvSpPr>
        <p:spPr>
          <a:xfrm>
            <a:off x="731519" y="4846320"/>
            <a:ext cx="1920241" cy="12801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31"/>
          <p:cNvSpPr txBox="1"/>
          <p:nvPr/>
        </p:nvSpPr>
        <p:spPr>
          <a:xfrm>
            <a:off x="868680" y="4937759"/>
            <a:ext cx="1645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007BFF"/>
                </a:solidFill>
              </a:defRPr>
            </a:lvl1pPr>
          </a:lstStyle>
          <a:p>
            <a:pPr/>
            <a:r>
              <a:t>MySQL</a:t>
            </a:r>
          </a:p>
        </p:txBody>
      </p:sp>
      <p:sp>
        <p:nvSpPr>
          <p:cNvPr id="142" name="TextBox 32"/>
          <p:cNvSpPr txBox="1"/>
          <p:nvPr/>
        </p:nvSpPr>
        <p:spPr>
          <a:xfrm>
            <a:off x="868680" y="5349240"/>
            <a:ext cx="164592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User data, notifications,</a:t>
            </a:r>
            <a:br/>
            <a:r>
              <a:t>preferences, delivery logs</a:t>
            </a:r>
          </a:p>
        </p:txBody>
      </p:sp>
      <p:sp>
        <p:nvSpPr>
          <p:cNvPr id="143" name="Rounded Rectangle 33"/>
          <p:cNvSpPr/>
          <p:nvPr/>
        </p:nvSpPr>
        <p:spPr>
          <a:xfrm>
            <a:off x="2926079" y="4846320"/>
            <a:ext cx="1920241" cy="12801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34"/>
          <p:cNvSpPr txBox="1"/>
          <p:nvPr/>
        </p:nvSpPr>
        <p:spPr>
          <a:xfrm>
            <a:off x="3063239" y="4937759"/>
            <a:ext cx="16459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DC3545"/>
                </a:solidFill>
              </a:defRPr>
            </a:lvl1pPr>
          </a:lstStyle>
          <a:p>
            <a:pPr/>
            <a:r>
              <a:t>Redis</a:t>
            </a:r>
          </a:p>
        </p:txBody>
      </p:sp>
      <p:sp>
        <p:nvSpPr>
          <p:cNvPr id="145" name="TextBox 35"/>
          <p:cNvSpPr txBox="1"/>
          <p:nvPr/>
        </p:nvSpPr>
        <p:spPr>
          <a:xfrm>
            <a:off x="3063239" y="5349240"/>
            <a:ext cx="1645922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Caching &amp; rate limiting</a:t>
            </a:r>
            <a:br/>
            <a:r>
              <a:t>for API calls</a:t>
            </a:r>
          </a:p>
        </p:txBody>
      </p:sp>
      <p:sp>
        <p:nvSpPr>
          <p:cNvPr id="146" name="Rounded Rectangle 36"/>
          <p:cNvSpPr/>
          <p:nvPr/>
        </p:nvSpPr>
        <p:spPr>
          <a:xfrm>
            <a:off x="5120640" y="4846320"/>
            <a:ext cx="1920241" cy="12801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37"/>
          <p:cNvSpPr txBox="1"/>
          <p:nvPr/>
        </p:nvSpPr>
        <p:spPr>
          <a:xfrm>
            <a:off x="5257800" y="4937759"/>
            <a:ext cx="1645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D7E14"/>
                </a:solidFill>
              </a:defRPr>
            </a:lvl1pPr>
          </a:lstStyle>
          <a:p>
            <a:pPr/>
            <a:r>
              <a:t>Kafka</a:t>
            </a:r>
          </a:p>
        </p:txBody>
      </p:sp>
      <p:sp>
        <p:nvSpPr>
          <p:cNvPr id="148" name="TextBox 38"/>
          <p:cNvSpPr txBox="1"/>
          <p:nvPr/>
        </p:nvSpPr>
        <p:spPr>
          <a:xfrm>
            <a:off x="5257800" y="5349240"/>
            <a:ext cx="164592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Event streaming with</a:t>
            </a:r>
            <a:br/>
            <a:r>
              <a:t>3 priority topics</a:t>
            </a:r>
          </a:p>
        </p:txBody>
      </p:sp>
      <p:sp>
        <p:nvSpPr>
          <p:cNvPr id="149" name="Rounded Rectangle 39"/>
          <p:cNvSpPr/>
          <p:nvPr/>
        </p:nvSpPr>
        <p:spPr>
          <a:xfrm>
            <a:off x="7315199" y="4846320"/>
            <a:ext cx="1920241" cy="12801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40"/>
          <p:cNvSpPr txBox="1"/>
          <p:nvPr/>
        </p:nvSpPr>
        <p:spPr>
          <a:xfrm>
            <a:off x="7452359" y="4937759"/>
            <a:ext cx="1645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28A745"/>
                </a:solidFill>
              </a:defRPr>
            </a:lvl1pPr>
          </a:lstStyle>
          <a:p>
            <a:pPr/>
            <a:r>
              <a:t>SendGrid</a:t>
            </a:r>
          </a:p>
        </p:txBody>
      </p:sp>
      <p:sp>
        <p:nvSpPr>
          <p:cNvPr id="151" name="TextBox 41"/>
          <p:cNvSpPr txBox="1"/>
          <p:nvPr/>
        </p:nvSpPr>
        <p:spPr>
          <a:xfrm>
            <a:off x="7452359" y="5349240"/>
            <a:ext cx="164592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Email delivery</a:t>
            </a:r>
            <a:br/>
            <a:r>
              <a:t>provider</a:t>
            </a:r>
          </a:p>
        </p:txBody>
      </p:sp>
      <p:sp>
        <p:nvSpPr>
          <p:cNvPr id="152" name="Rounded Rectangle 42"/>
          <p:cNvSpPr/>
          <p:nvPr/>
        </p:nvSpPr>
        <p:spPr>
          <a:xfrm>
            <a:off x="9509759" y="4846320"/>
            <a:ext cx="1920241" cy="12801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43"/>
          <p:cNvSpPr txBox="1"/>
          <p:nvPr/>
        </p:nvSpPr>
        <p:spPr>
          <a:xfrm>
            <a:off x="9646919" y="4937759"/>
            <a:ext cx="16459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6F42C1"/>
                </a:solidFill>
              </a:defRPr>
            </a:lvl1pPr>
          </a:lstStyle>
          <a:p>
            <a:pPr/>
            <a:r>
              <a:t>Twilio</a:t>
            </a:r>
          </a:p>
        </p:txBody>
      </p:sp>
      <p:sp>
        <p:nvSpPr>
          <p:cNvPr id="154" name="TextBox 44"/>
          <p:cNvSpPr txBox="1"/>
          <p:nvPr/>
        </p:nvSpPr>
        <p:spPr>
          <a:xfrm>
            <a:off x="9646919" y="5349240"/>
            <a:ext cx="164592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000">
                <a:solidFill>
                  <a:srgbClr val="CCCCCC"/>
                </a:solidFill>
              </a:defRPr>
            </a:pPr>
            <a:r>
              <a:t>SMS delivery</a:t>
            </a:r>
            <a:br/>
            <a:r>
              <a:t>provider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158" name="Rectangle 3"/>
          <p:cNvSpPr/>
          <p:nvPr/>
        </p:nvSpPr>
        <p:spPr>
          <a:xfrm>
            <a:off x="731519" y="1051560"/>
            <a:ext cx="2286001" cy="45721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Rounded Rectangle 4"/>
          <p:cNvSpPr/>
          <p:nvPr/>
        </p:nvSpPr>
        <p:spPr>
          <a:xfrm>
            <a:off x="457200" y="1463039"/>
            <a:ext cx="26517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Rectangle 5"/>
          <p:cNvSpPr/>
          <p:nvPr/>
        </p:nvSpPr>
        <p:spPr>
          <a:xfrm>
            <a:off x="457200" y="1463039"/>
            <a:ext cx="2651761" cy="54865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6"/>
          <p:cNvSpPr txBox="1"/>
          <p:nvPr/>
        </p:nvSpPr>
        <p:spPr>
          <a:xfrm>
            <a:off x="640080" y="1645920"/>
            <a:ext cx="22860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007BFF"/>
                </a:solidFill>
              </a:defRPr>
            </a:lvl1pPr>
          </a:lstStyle>
          <a:p>
            <a:pPr/>
            <a:r>
              <a:t>Backend Framework</a:t>
            </a:r>
          </a:p>
        </p:txBody>
      </p:sp>
      <p:sp>
        <p:nvSpPr>
          <p:cNvPr id="162" name="TextBox 7"/>
          <p:cNvSpPr txBox="1"/>
          <p:nvPr/>
        </p:nvSpPr>
        <p:spPr>
          <a:xfrm>
            <a:off x="640080" y="2148839"/>
            <a:ext cx="2286001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Spring Boot 3.4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Java 17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Maven</a:t>
            </a:r>
          </a:p>
        </p:txBody>
      </p:sp>
      <p:sp>
        <p:nvSpPr>
          <p:cNvPr id="163" name="Rounded Rectangle 8"/>
          <p:cNvSpPr/>
          <p:nvPr/>
        </p:nvSpPr>
        <p:spPr>
          <a:xfrm>
            <a:off x="3337559" y="1463039"/>
            <a:ext cx="26517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Rectangle 9"/>
          <p:cNvSpPr/>
          <p:nvPr/>
        </p:nvSpPr>
        <p:spPr>
          <a:xfrm>
            <a:off x="3337559" y="1463039"/>
            <a:ext cx="2651761" cy="54865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0"/>
          <p:cNvSpPr txBox="1"/>
          <p:nvPr/>
        </p:nvSpPr>
        <p:spPr>
          <a:xfrm>
            <a:off x="3520440" y="1645920"/>
            <a:ext cx="22860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D7E14"/>
                </a:solidFill>
              </a:defRPr>
            </a:lvl1pPr>
          </a:lstStyle>
          <a:p>
            <a:pPr/>
            <a:r>
              <a:t>Event Streaming</a:t>
            </a:r>
          </a:p>
        </p:txBody>
      </p:sp>
      <p:sp>
        <p:nvSpPr>
          <p:cNvPr id="166" name="TextBox 11"/>
          <p:cNvSpPr txBox="1"/>
          <p:nvPr/>
        </p:nvSpPr>
        <p:spPr>
          <a:xfrm>
            <a:off x="3520440" y="2148839"/>
            <a:ext cx="2286001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Apache Kafka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3 Priority Topics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Partitioned by Priority Key</a:t>
            </a:r>
          </a:p>
        </p:txBody>
      </p:sp>
      <p:sp>
        <p:nvSpPr>
          <p:cNvPr id="167" name="Rounded Rectangle 12"/>
          <p:cNvSpPr/>
          <p:nvPr/>
        </p:nvSpPr>
        <p:spPr>
          <a:xfrm>
            <a:off x="6217920" y="1463039"/>
            <a:ext cx="26517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Rectangle 13"/>
          <p:cNvSpPr/>
          <p:nvPr/>
        </p:nvSpPr>
        <p:spPr>
          <a:xfrm>
            <a:off x="6217920" y="1463039"/>
            <a:ext cx="2651761" cy="54865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14"/>
          <p:cNvSpPr txBox="1"/>
          <p:nvPr/>
        </p:nvSpPr>
        <p:spPr>
          <a:xfrm>
            <a:off x="6400800" y="1645920"/>
            <a:ext cx="228600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8A745"/>
                </a:solidFill>
              </a:defRPr>
            </a:lvl1pPr>
          </a:lstStyle>
          <a:p>
            <a:pPr/>
            <a:r>
              <a:t>Database</a:t>
            </a:r>
          </a:p>
        </p:txBody>
      </p:sp>
      <p:sp>
        <p:nvSpPr>
          <p:cNvPr id="170" name="TextBox 15"/>
          <p:cNvSpPr txBox="1"/>
          <p:nvPr/>
        </p:nvSpPr>
        <p:spPr>
          <a:xfrm>
            <a:off x="6400800" y="2148839"/>
            <a:ext cx="2286000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MySQL 8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JPA / Hibernate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Foreign Key Constraints</a:t>
            </a:r>
          </a:p>
        </p:txBody>
      </p:sp>
      <p:sp>
        <p:nvSpPr>
          <p:cNvPr id="171" name="Rounded Rectangle 16"/>
          <p:cNvSpPr/>
          <p:nvPr/>
        </p:nvSpPr>
        <p:spPr>
          <a:xfrm>
            <a:off x="9098280" y="1463039"/>
            <a:ext cx="26517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Rectangle 17"/>
          <p:cNvSpPr/>
          <p:nvPr/>
        </p:nvSpPr>
        <p:spPr>
          <a:xfrm>
            <a:off x="9098280" y="1463039"/>
            <a:ext cx="2651761" cy="54865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18"/>
          <p:cNvSpPr txBox="1"/>
          <p:nvPr/>
        </p:nvSpPr>
        <p:spPr>
          <a:xfrm>
            <a:off x="9281159" y="1645920"/>
            <a:ext cx="22860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DC3545"/>
                </a:solidFill>
              </a:defRPr>
            </a:lvl1pPr>
          </a:lstStyle>
          <a:p>
            <a:pPr/>
            <a:r>
              <a:t>Caching</a:t>
            </a:r>
          </a:p>
        </p:txBody>
      </p:sp>
      <p:sp>
        <p:nvSpPr>
          <p:cNvPr id="174" name="TextBox 19"/>
          <p:cNvSpPr txBox="1"/>
          <p:nvPr/>
        </p:nvSpPr>
        <p:spPr>
          <a:xfrm>
            <a:off x="9281159" y="2148839"/>
            <a:ext cx="2286001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Redis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Rate Limiting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API Response Caching</a:t>
            </a:r>
          </a:p>
        </p:txBody>
      </p:sp>
      <p:sp>
        <p:nvSpPr>
          <p:cNvPr id="175" name="Rounded Rectangle 20"/>
          <p:cNvSpPr/>
          <p:nvPr/>
        </p:nvSpPr>
        <p:spPr>
          <a:xfrm>
            <a:off x="457200" y="4023359"/>
            <a:ext cx="26517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21"/>
          <p:cNvSpPr/>
          <p:nvPr/>
        </p:nvSpPr>
        <p:spPr>
          <a:xfrm>
            <a:off x="457200" y="4023359"/>
            <a:ext cx="2651761" cy="54865"/>
          </a:xfrm>
          <a:prstGeom prst="rect">
            <a:avLst/>
          </a:prstGeom>
          <a:solidFill>
            <a:srgbClr val="20C9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22"/>
          <p:cNvSpPr txBox="1"/>
          <p:nvPr/>
        </p:nvSpPr>
        <p:spPr>
          <a:xfrm>
            <a:off x="640080" y="4206240"/>
            <a:ext cx="22860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0C997"/>
                </a:solidFill>
              </a:defRPr>
            </a:lvl1pPr>
          </a:lstStyle>
          <a:p>
            <a:pPr/>
            <a:r>
              <a:t>Email Provider</a:t>
            </a:r>
          </a:p>
        </p:txBody>
      </p:sp>
      <p:sp>
        <p:nvSpPr>
          <p:cNvPr id="178" name="TextBox 23"/>
          <p:cNvSpPr txBox="1"/>
          <p:nvPr/>
        </p:nvSpPr>
        <p:spPr>
          <a:xfrm>
            <a:off x="640080" y="4709159"/>
            <a:ext cx="2286001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SendGrid API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Verified Sender Identity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Status 202 Tracking</a:t>
            </a:r>
          </a:p>
        </p:txBody>
      </p:sp>
      <p:sp>
        <p:nvSpPr>
          <p:cNvPr id="179" name="Rounded Rectangle 24"/>
          <p:cNvSpPr/>
          <p:nvPr/>
        </p:nvSpPr>
        <p:spPr>
          <a:xfrm>
            <a:off x="3337559" y="4023359"/>
            <a:ext cx="26517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Rectangle 25"/>
          <p:cNvSpPr/>
          <p:nvPr/>
        </p:nvSpPr>
        <p:spPr>
          <a:xfrm>
            <a:off x="3337559" y="4023359"/>
            <a:ext cx="2651761" cy="54865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26"/>
          <p:cNvSpPr txBox="1"/>
          <p:nvPr/>
        </p:nvSpPr>
        <p:spPr>
          <a:xfrm>
            <a:off x="3520440" y="4206240"/>
            <a:ext cx="22860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6F42C1"/>
                </a:solidFill>
              </a:defRPr>
            </a:lvl1pPr>
          </a:lstStyle>
          <a:p>
            <a:pPr/>
            <a:r>
              <a:t>SMS Provider</a:t>
            </a:r>
          </a:p>
        </p:txBody>
      </p:sp>
      <p:sp>
        <p:nvSpPr>
          <p:cNvPr id="182" name="TextBox 27"/>
          <p:cNvSpPr txBox="1"/>
          <p:nvPr/>
        </p:nvSpPr>
        <p:spPr>
          <a:xfrm>
            <a:off x="3520440" y="4709159"/>
            <a:ext cx="2286001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Twilio API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Trial Account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Queue Status Tracking</a:t>
            </a:r>
          </a:p>
        </p:txBody>
      </p:sp>
      <p:sp>
        <p:nvSpPr>
          <p:cNvPr id="183" name="Rounded Rectangle 28"/>
          <p:cNvSpPr/>
          <p:nvPr/>
        </p:nvSpPr>
        <p:spPr>
          <a:xfrm>
            <a:off x="6217920" y="4023359"/>
            <a:ext cx="26517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29"/>
          <p:cNvSpPr/>
          <p:nvPr/>
        </p:nvSpPr>
        <p:spPr>
          <a:xfrm>
            <a:off x="6217920" y="4023359"/>
            <a:ext cx="2651761" cy="54865"/>
          </a:xfrm>
          <a:prstGeom prst="rect">
            <a:avLst/>
          </a:prstGeom>
          <a:solidFill>
            <a:srgbClr val="E83E8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30"/>
          <p:cNvSpPr txBox="1"/>
          <p:nvPr/>
        </p:nvSpPr>
        <p:spPr>
          <a:xfrm>
            <a:off x="6400800" y="4206240"/>
            <a:ext cx="228600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E83E8C"/>
                </a:solidFill>
              </a:defRPr>
            </a:lvl1pPr>
          </a:lstStyle>
          <a:p>
            <a:pPr/>
            <a:r>
              <a:t>Infrastructure</a:t>
            </a:r>
          </a:p>
        </p:txBody>
      </p:sp>
      <p:sp>
        <p:nvSpPr>
          <p:cNvPr id="186" name="TextBox 31"/>
          <p:cNvSpPr txBox="1"/>
          <p:nvPr/>
        </p:nvSpPr>
        <p:spPr>
          <a:xfrm>
            <a:off x="6400800" y="4709159"/>
            <a:ext cx="2286000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Docker Compose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Kafka, MySQL, Redis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Port Mapping</a:t>
            </a:r>
          </a:p>
        </p:txBody>
      </p:sp>
      <p:sp>
        <p:nvSpPr>
          <p:cNvPr id="187" name="Rounded Rectangle 32"/>
          <p:cNvSpPr/>
          <p:nvPr/>
        </p:nvSpPr>
        <p:spPr>
          <a:xfrm>
            <a:off x="9098280" y="4023359"/>
            <a:ext cx="26517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ectangle 33"/>
          <p:cNvSpPr/>
          <p:nvPr/>
        </p:nvSpPr>
        <p:spPr>
          <a:xfrm>
            <a:off x="9098280" y="4023359"/>
            <a:ext cx="2651761" cy="54865"/>
          </a:xfrm>
          <a:prstGeom prst="rect">
            <a:avLst/>
          </a:prstGeom>
          <a:solidFill>
            <a:srgbClr val="FFC10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34"/>
          <p:cNvSpPr txBox="1"/>
          <p:nvPr/>
        </p:nvSpPr>
        <p:spPr>
          <a:xfrm>
            <a:off x="9281159" y="4206240"/>
            <a:ext cx="22860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C107"/>
                </a:solidFill>
              </a:defRPr>
            </a:lvl1pPr>
          </a:lstStyle>
          <a:p>
            <a:pPr/>
            <a:r>
              <a:t>API &amp; Testing</a:t>
            </a:r>
          </a:p>
        </p:txBody>
      </p:sp>
      <p:sp>
        <p:nvSpPr>
          <p:cNvPr id="190" name="TextBox 35"/>
          <p:cNvSpPr txBox="1"/>
          <p:nvPr/>
        </p:nvSpPr>
        <p:spPr>
          <a:xfrm>
            <a:off x="9281159" y="4709159"/>
            <a:ext cx="2286001" cy="817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REST API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Postman</a:t>
            </a:r>
          </a:p>
          <a:p>
            <a:pPr>
              <a:spcBef>
                <a:spcPts val="600"/>
              </a:spcBef>
              <a:defRPr sz="1300">
                <a:solidFill>
                  <a:srgbClr val="CCCCCC"/>
                </a:solidFill>
              </a:defRPr>
            </a:pPr>
            <a:r>
              <a:t>Curl / JSON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Core Features</a:t>
            </a:r>
          </a:p>
        </p:txBody>
      </p:sp>
      <p:sp>
        <p:nvSpPr>
          <p:cNvPr id="194" name="Rectangle 3"/>
          <p:cNvSpPr/>
          <p:nvPr/>
        </p:nvSpPr>
        <p:spPr>
          <a:xfrm>
            <a:off x="731519" y="1051560"/>
            <a:ext cx="1828801" cy="45721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Rounded Rectangle 4"/>
          <p:cNvSpPr/>
          <p:nvPr/>
        </p:nvSpPr>
        <p:spPr>
          <a:xfrm>
            <a:off x="457200" y="1371600"/>
            <a:ext cx="5486400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Rectangle 5"/>
          <p:cNvSpPr/>
          <p:nvPr/>
        </p:nvSpPr>
        <p:spPr>
          <a:xfrm>
            <a:off x="457200" y="1371600"/>
            <a:ext cx="73153" cy="1097281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6"/>
          <p:cNvSpPr txBox="1"/>
          <p:nvPr/>
        </p:nvSpPr>
        <p:spPr>
          <a:xfrm>
            <a:off x="731519" y="1463039"/>
            <a:ext cx="4937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007B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🔗  </a:t>
            </a:r>
            <a:r>
              <a:t>Notification API</a:t>
            </a:r>
          </a:p>
        </p:txBody>
      </p:sp>
      <p:sp>
        <p:nvSpPr>
          <p:cNvPr id="198" name="TextBox 7"/>
          <p:cNvSpPr txBox="1"/>
          <p:nvPr/>
        </p:nvSpPr>
        <p:spPr>
          <a:xfrm>
            <a:off x="731519" y="1874520"/>
            <a:ext cx="49377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CCCCC"/>
                </a:solidFill>
              </a:defRPr>
            </a:lvl1pPr>
          </a:lstStyle>
          <a:p>
            <a:pPr/>
            <a:r>
              <a:t>RESTful API to create and manage notifications across multiple channels</a:t>
            </a:r>
          </a:p>
        </p:txBody>
      </p:sp>
      <p:sp>
        <p:nvSpPr>
          <p:cNvPr id="199" name="Rounded Rectangle 8"/>
          <p:cNvSpPr/>
          <p:nvPr/>
        </p:nvSpPr>
        <p:spPr>
          <a:xfrm>
            <a:off x="6217920" y="1371600"/>
            <a:ext cx="5486401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Rectangle 9"/>
          <p:cNvSpPr/>
          <p:nvPr/>
        </p:nvSpPr>
        <p:spPr>
          <a:xfrm>
            <a:off x="6217920" y="1371600"/>
            <a:ext cx="73153" cy="1097281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10"/>
          <p:cNvSpPr txBox="1"/>
          <p:nvPr/>
        </p:nvSpPr>
        <p:spPr>
          <a:xfrm>
            <a:off x="6492240" y="1463039"/>
            <a:ext cx="493776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28A745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📡  </a:t>
            </a:r>
            <a:r>
              <a:t>Multi-Channel Support</a:t>
            </a:r>
          </a:p>
        </p:txBody>
      </p:sp>
      <p:sp>
        <p:nvSpPr>
          <p:cNvPr id="202" name="TextBox 11"/>
          <p:cNvSpPr txBox="1"/>
          <p:nvPr/>
        </p:nvSpPr>
        <p:spPr>
          <a:xfrm>
            <a:off x="6492240" y="1874520"/>
            <a:ext cx="49377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CCCCC"/>
                </a:solidFill>
              </a:defRPr>
            </a:lvl1pPr>
          </a:lstStyle>
          <a:p>
            <a:pPr/>
            <a:r>
              <a:t>Email (SendGrid), SMS (Twilio) — extensible to add more channels</a:t>
            </a:r>
          </a:p>
        </p:txBody>
      </p:sp>
      <p:sp>
        <p:nvSpPr>
          <p:cNvPr id="203" name="Rounded Rectangle 12"/>
          <p:cNvSpPr/>
          <p:nvPr/>
        </p:nvSpPr>
        <p:spPr>
          <a:xfrm>
            <a:off x="457200" y="2651760"/>
            <a:ext cx="5486400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Rectangle 13"/>
          <p:cNvSpPr/>
          <p:nvPr/>
        </p:nvSpPr>
        <p:spPr>
          <a:xfrm>
            <a:off x="457200" y="2651760"/>
            <a:ext cx="73153" cy="1097281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4"/>
          <p:cNvSpPr txBox="1"/>
          <p:nvPr/>
        </p:nvSpPr>
        <p:spPr>
          <a:xfrm>
            <a:off x="731519" y="2743200"/>
            <a:ext cx="4937761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FD7E1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⚡  </a:t>
            </a:r>
            <a:r>
              <a:t>Priority-Based Queuing</a:t>
            </a:r>
          </a:p>
        </p:txBody>
      </p:sp>
      <p:sp>
        <p:nvSpPr>
          <p:cNvPr id="206" name="TextBox 15"/>
          <p:cNvSpPr txBox="1"/>
          <p:nvPr/>
        </p:nvSpPr>
        <p:spPr>
          <a:xfrm>
            <a:off x="731519" y="3154679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CCCCC"/>
                </a:solidFill>
              </a:defRPr>
            </a:lvl1pPr>
          </a:lstStyle>
          <a:p>
            <a:pPr/>
            <a:r>
              <a:t>3 priority levels: Transactional (1), Informational (2), Promotional (3)</a:t>
            </a:r>
          </a:p>
        </p:txBody>
      </p:sp>
      <p:sp>
        <p:nvSpPr>
          <p:cNvPr id="207" name="Rounded Rectangle 16"/>
          <p:cNvSpPr/>
          <p:nvPr/>
        </p:nvSpPr>
        <p:spPr>
          <a:xfrm>
            <a:off x="6217920" y="2651760"/>
            <a:ext cx="5486401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Rectangle 17"/>
          <p:cNvSpPr/>
          <p:nvPr/>
        </p:nvSpPr>
        <p:spPr>
          <a:xfrm>
            <a:off x="6217920" y="2651760"/>
            <a:ext cx="73153" cy="1097281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18"/>
          <p:cNvSpPr txBox="1"/>
          <p:nvPr/>
        </p:nvSpPr>
        <p:spPr>
          <a:xfrm>
            <a:off x="6492240" y="2743200"/>
            <a:ext cx="4937760" cy="421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6F42C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👤  </a:t>
            </a:r>
            <a:r>
              <a:t>User Preferences</a:t>
            </a:r>
          </a:p>
        </p:txBody>
      </p:sp>
      <p:sp>
        <p:nvSpPr>
          <p:cNvPr id="210" name="TextBox 19"/>
          <p:cNvSpPr txBox="1"/>
          <p:nvPr/>
        </p:nvSpPr>
        <p:spPr>
          <a:xfrm>
            <a:off x="6492240" y="3154679"/>
            <a:ext cx="49377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CCCCC"/>
                </a:solidFill>
              </a:defRPr>
            </a:lvl1pPr>
          </a:lstStyle>
          <a:p>
            <a:pPr/>
            <a:r>
              <a:t>Opt-in/out per channel, quiet hours, category-based filtering</a:t>
            </a:r>
          </a:p>
        </p:txBody>
      </p:sp>
      <p:sp>
        <p:nvSpPr>
          <p:cNvPr id="211" name="Rounded Rectangle 20"/>
          <p:cNvSpPr/>
          <p:nvPr/>
        </p:nvSpPr>
        <p:spPr>
          <a:xfrm>
            <a:off x="457200" y="3931920"/>
            <a:ext cx="5486400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Rectangle 21"/>
          <p:cNvSpPr/>
          <p:nvPr/>
        </p:nvSpPr>
        <p:spPr>
          <a:xfrm>
            <a:off x="457200" y="3931920"/>
            <a:ext cx="73153" cy="1097281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22"/>
          <p:cNvSpPr txBox="1"/>
          <p:nvPr/>
        </p:nvSpPr>
        <p:spPr>
          <a:xfrm>
            <a:off x="731519" y="4023359"/>
            <a:ext cx="4937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DC3545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🛡️  </a:t>
            </a:r>
            <a:r>
              <a:t>Duplicate Prevention</a:t>
            </a:r>
          </a:p>
        </p:txBody>
      </p:sp>
      <p:sp>
        <p:nvSpPr>
          <p:cNvPr id="214" name="TextBox 23"/>
          <p:cNvSpPr txBox="1"/>
          <p:nvPr/>
        </p:nvSpPr>
        <p:spPr>
          <a:xfrm>
            <a:off x="731519" y="4434840"/>
            <a:ext cx="4937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CCCCC"/>
                </a:solidFill>
              </a:defRPr>
            </a:lvl1pPr>
          </a:lstStyle>
          <a:p>
            <a:pPr/>
            <a:r>
              <a:t>UNIQUE DB constraint + message_hash ensures no duplicate notifications</a:t>
            </a:r>
          </a:p>
        </p:txBody>
      </p:sp>
      <p:sp>
        <p:nvSpPr>
          <p:cNvPr id="215" name="Rounded Rectangle 24"/>
          <p:cNvSpPr/>
          <p:nvPr/>
        </p:nvSpPr>
        <p:spPr>
          <a:xfrm>
            <a:off x="6217920" y="3931920"/>
            <a:ext cx="5486401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Rectangle 25"/>
          <p:cNvSpPr/>
          <p:nvPr/>
        </p:nvSpPr>
        <p:spPr>
          <a:xfrm>
            <a:off x="6217920" y="3931920"/>
            <a:ext cx="73153" cy="1097281"/>
          </a:xfrm>
          <a:prstGeom prst="rect">
            <a:avLst/>
          </a:prstGeom>
          <a:solidFill>
            <a:srgbClr val="20C9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26"/>
          <p:cNvSpPr txBox="1"/>
          <p:nvPr/>
        </p:nvSpPr>
        <p:spPr>
          <a:xfrm>
            <a:off x="6492240" y="4023359"/>
            <a:ext cx="493776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20C99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📝  </a:t>
            </a:r>
            <a:r>
              <a:t>Templating Engine</a:t>
            </a:r>
          </a:p>
        </p:txBody>
      </p:sp>
      <p:sp>
        <p:nvSpPr>
          <p:cNvPr id="218" name="TextBox 27"/>
          <p:cNvSpPr txBox="1"/>
          <p:nvPr/>
        </p:nvSpPr>
        <p:spPr>
          <a:xfrm>
            <a:off x="6492240" y="4434840"/>
            <a:ext cx="49377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CCCCC"/>
                </a:solidFill>
              </a:defRPr>
            </a:lvl1pPr>
          </a:lstStyle>
          <a:p>
            <a:pPr/>
            <a:r>
              <a:t>Dynamic placeholders like {name}, {otp} for message personalization</a:t>
            </a:r>
          </a:p>
        </p:txBody>
      </p:sp>
      <p:sp>
        <p:nvSpPr>
          <p:cNvPr id="219" name="Rounded Rectangle 28"/>
          <p:cNvSpPr/>
          <p:nvPr/>
        </p:nvSpPr>
        <p:spPr>
          <a:xfrm>
            <a:off x="457200" y="5212079"/>
            <a:ext cx="5486400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Rectangle 29"/>
          <p:cNvSpPr/>
          <p:nvPr/>
        </p:nvSpPr>
        <p:spPr>
          <a:xfrm>
            <a:off x="457200" y="5212079"/>
            <a:ext cx="73153" cy="1097281"/>
          </a:xfrm>
          <a:prstGeom prst="rect">
            <a:avLst/>
          </a:prstGeom>
          <a:solidFill>
            <a:srgbClr val="FFC10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30"/>
          <p:cNvSpPr txBox="1"/>
          <p:nvPr/>
        </p:nvSpPr>
        <p:spPr>
          <a:xfrm>
            <a:off x="731519" y="5303518"/>
            <a:ext cx="4937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FFC107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🚦  </a:t>
            </a:r>
            <a:r>
              <a:t>Rate Limiting</a:t>
            </a:r>
          </a:p>
        </p:txBody>
      </p:sp>
      <p:sp>
        <p:nvSpPr>
          <p:cNvPr id="222" name="TextBox 31"/>
          <p:cNvSpPr txBox="1"/>
          <p:nvPr/>
        </p:nvSpPr>
        <p:spPr>
          <a:xfrm>
            <a:off x="731519" y="5714998"/>
            <a:ext cx="49377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CCCCC"/>
                </a:solidFill>
              </a:defRPr>
            </a:lvl1pPr>
          </a:lstStyle>
          <a:p>
            <a:pPr/>
            <a:r>
              <a:t>Handles API rate limits for third-party vendors using Redis</a:t>
            </a:r>
          </a:p>
        </p:txBody>
      </p:sp>
      <p:sp>
        <p:nvSpPr>
          <p:cNvPr id="223" name="Rounded Rectangle 32"/>
          <p:cNvSpPr/>
          <p:nvPr/>
        </p:nvSpPr>
        <p:spPr>
          <a:xfrm>
            <a:off x="6217920" y="5212079"/>
            <a:ext cx="5486401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Rectangle 33"/>
          <p:cNvSpPr/>
          <p:nvPr/>
        </p:nvSpPr>
        <p:spPr>
          <a:xfrm>
            <a:off x="6217920" y="5212079"/>
            <a:ext cx="73153" cy="1097281"/>
          </a:xfrm>
          <a:prstGeom prst="rect">
            <a:avLst/>
          </a:prstGeom>
          <a:solidFill>
            <a:srgbClr val="E83E8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TextBox 34"/>
          <p:cNvSpPr txBox="1"/>
          <p:nvPr/>
        </p:nvSpPr>
        <p:spPr>
          <a:xfrm>
            <a:off x="6492240" y="5303518"/>
            <a:ext cx="4937760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E83E8C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📈  </a:t>
            </a:r>
            <a:r>
              <a:t>Scalability</a:t>
            </a:r>
          </a:p>
        </p:txBody>
      </p:sp>
      <p:sp>
        <p:nvSpPr>
          <p:cNvPr id="226" name="TextBox 35"/>
          <p:cNvSpPr txBox="1"/>
          <p:nvPr/>
        </p:nvSpPr>
        <p:spPr>
          <a:xfrm>
            <a:off x="6492240" y="5714998"/>
            <a:ext cx="49377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CCCCCC"/>
                </a:solidFill>
              </a:defRPr>
            </a:lvl1pPr>
          </a:lstStyle>
          <a:p>
            <a:pPr/>
            <a:r>
              <a:t>Asynchronous processing, independent services, Kafka partitioning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Multi-Channel Notification Delivery</a:t>
            </a:r>
          </a:p>
        </p:txBody>
      </p:sp>
      <p:sp>
        <p:nvSpPr>
          <p:cNvPr id="230" name="Rectangle 3"/>
          <p:cNvSpPr/>
          <p:nvPr/>
        </p:nvSpPr>
        <p:spPr>
          <a:xfrm>
            <a:off x="731519" y="1051560"/>
            <a:ext cx="3200401" cy="45721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Rounded Rectangle 4"/>
          <p:cNvSpPr/>
          <p:nvPr/>
        </p:nvSpPr>
        <p:spPr>
          <a:xfrm>
            <a:off x="457200" y="1463039"/>
            <a:ext cx="5303521" cy="47548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Rectangle 5"/>
          <p:cNvSpPr/>
          <p:nvPr/>
        </p:nvSpPr>
        <p:spPr>
          <a:xfrm>
            <a:off x="457199" y="1463039"/>
            <a:ext cx="5303522" cy="73153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6"/>
          <p:cNvSpPr txBox="1"/>
          <p:nvPr/>
        </p:nvSpPr>
        <p:spPr>
          <a:xfrm>
            <a:off x="777240" y="1691639"/>
            <a:ext cx="466344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007B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📧  </a:t>
            </a:r>
            <a:r>
              <a:t>Email Channel — SendGrid</a:t>
            </a:r>
          </a:p>
        </p:txBody>
      </p:sp>
      <p:sp>
        <p:nvSpPr>
          <p:cNvPr id="234" name="TextBox 7"/>
          <p:cNvSpPr txBox="1"/>
          <p:nvPr/>
        </p:nvSpPr>
        <p:spPr>
          <a:xfrm>
            <a:off x="777240" y="2286000"/>
            <a:ext cx="4663440" cy="2261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SendGrid Java SDK for email delivery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Verified sender identity required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Supports subject, body, and attachments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Status Code 202 = Accepted by SendGrid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Message ID tracking for delivery status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From: aryanbhagat67988@gmail.com (verified)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Kafka topic: email-topic</a:t>
            </a:r>
          </a:p>
        </p:txBody>
      </p:sp>
      <p:sp>
        <p:nvSpPr>
          <p:cNvPr id="235" name="Rounded Rectangle 8"/>
          <p:cNvSpPr/>
          <p:nvPr/>
        </p:nvSpPr>
        <p:spPr>
          <a:xfrm>
            <a:off x="6217920" y="1463039"/>
            <a:ext cx="5303521" cy="47548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Rectangle 9"/>
          <p:cNvSpPr/>
          <p:nvPr/>
        </p:nvSpPr>
        <p:spPr>
          <a:xfrm>
            <a:off x="6217920" y="1463039"/>
            <a:ext cx="5303521" cy="73153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10"/>
          <p:cNvSpPr txBox="1"/>
          <p:nvPr/>
        </p:nvSpPr>
        <p:spPr>
          <a:xfrm>
            <a:off x="6537959" y="1691639"/>
            <a:ext cx="4663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6F42C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📱  </a:t>
            </a:r>
            <a:r>
              <a:t>SMS Channel — Twilio</a:t>
            </a:r>
          </a:p>
        </p:txBody>
      </p:sp>
      <p:sp>
        <p:nvSpPr>
          <p:cNvPr id="238" name="TextBox 11"/>
          <p:cNvSpPr txBox="1"/>
          <p:nvPr/>
        </p:nvSpPr>
        <p:spPr>
          <a:xfrm>
            <a:off x="6537959" y="2286000"/>
            <a:ext cx="4663441" cy="2261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Twilio Java SDK for SMS delivery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Trial account with verified numbers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Supports phone number and message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Status: queued = Accepted by Twilio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Message SID tracking for delivery status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From: +19382046054 (Twilio number)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Kafka topic: sms-topic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Priority-Based Queuing System</a:t>
            </a:r>
          </a:p>
        </p:txBody>
      </p:sp>
      <p:sp>
        <p:nvSpPr>
          <p:cNvPr id="242" name="Rectangle 3"/>
          <p:cNvSpPr/>
          <p:nvPr/>
        </p:nvSpPr>
        <p:spPr>
          <a:xfrm>
            <a:off x="731519" y="1051560"/>
            <a:ext cx="3200401" cy="45721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Rounded Rectangle 4"/>
          <p:cNvSpPr/>
          <p:nvPr/>
        </p:nvSpPr>
        <p:spPr>
          <a:xfrm>
            <a:off x="457200" y="1463039"/>
            <a:ext cx="11247120" cy="146304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Rectangle 5"/>
          <p:cNvSpPr/>
          <p:nvPr/>
        </p:nvSpPr>
        <p:spPr>
          <a:xfrm>
            <a:off x="457200" y="1463039"/>
            <a:ext cx="109728" cy="1463042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TextBox 6"/>
          <p:cNvSpPr txBox="1"/>
          <p:nvPr/>
        </p:nvSpPr>
        <p:spPr>
          <a:xfrm>
            <a:off x="868680" y="1600200"/>
            <a:ext cx="292608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DC3545"/>
                </a:solidFill>
              </a:defRPr>
            </a:lvl1pPr>
          </a:lstStyle>
          <a:p>
            <a:pPr/>
            <a:r>
              <a:t>Priority 1 — Transactional</a:t>
            </a:r>
          </a:p>
        </p:txBody>
      </p:sp>
      <p:sp>
        <p:nvSpPr>
          <p:cNvPr id="246" name="TextBox 7"/>
          <p:cNvSpPr txBox="1"/>
          <p:nvPr/>
        </p:nvSpPr>
        <p:spPr>
          <a:xfrm>
            <a:off x="868680" y="2057400"/>
            <a:ext cx="6309360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OTP, password resets, order confirmations</a:t>
            </a:r>
            <a:br/>
            <a:r>
              <a:t>— Must be delivered immediately</a:t>
            </a:r>
          </a:p>
        </p:txBody>
      </p:sp>
      <p:sp>
        <p:nvSpPr>
          <p:cNvPr id="247" name="Rounded Rectangle 8"/>
          <p:cNvSpPr/>
          <p:nvPr/>
        </p:nvSpPr>
        <p:spPr>
          <a:xfrm>
            <a:off x="8686800" y="1737360"/>
            <a:ext cx="2743200" cy="8229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9"/>
          <p:cNvSpPr txBox="1"/>
          <p:nvPr/>
        </p:nvSpPr>
        <p:spPr>
          <a:xfrm>
            <a:off x="8732519" y="1874520"/>
            <a:ext cx="2651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600">
                <a:solidFill>
                  <a:srgbClr val="DC3545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⚡ </a:t>
            </a:r>
            <a:r>
              <a:t>HIGHEST</a:t>
            </a:r>
          </a:p>
        </p:txBody>
      </p:sp>
      <p:sp>
        <p:nvSpPr>
          <p:cNvPr id="249" name="Rounded Rectangle 10"/>
          <p:cNvSpPr/>
          <p:nvPr/>
        </p:nvSpPr>
        <p:spPr>
          <a:xfrm>
            <a:off x="457200" y="3200400"/>
            <a:ext cx="11247120" cy="146304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Rectangle 11"/>
          <p:cNvSpPr/>
          <p:nvPr/>
        </p:nvSpPr>
        <p:spPr>
          <a:xfrm>
            <a:off x="457200" y="3200400"/>
            <a:ext cx="109728" cy="1463041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TextBox 12"/>
          <p:cNvSpPr txBox="1"/>
          <p:nvPr/>
        </p:nvSpPr>
        <p:spPr>
          <a:xfrm>
            <a:off x="868680" y="3337559"/>
            <a:ext cx="292608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D7E14"/>
                </a:solidFill>
              </a:defRPr>
            </a:lvl1pPr>
          </a:lstStyle>
          <a:p>
            <a:pPr/>
            <a:r>
              <a:t>Priority 2 — Informational</a:t>
            </a:r>
          </a:p>
        </p:txBody>
      </p:sp>
      <p:sp>
        <p:nvSpPr>
          <p:cNvPr id="252" name="TextBox 13"/>
          <p:cNvSpPr txBox="1"/>
          <p:nvPr/>
        </p:nvSpPr>
        <p:spPr>
          <a:xfrm>
            <a:off x="868680" y="3794759"/>
            <a:ext cx="6309360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Account updates, weekly digests, shipping alerts</a:t>
            </a:r>
            <a:br/>
            <a:r>
              <a:t>— Delivered within minutes</a:t>
            </a:r>
          </a:p>
        </p:txBody>
      </p:sp>
      <p:sp>
        <p:nvSpPr>
          <p:cNvPr id="253" name="Rounded Rectangle 14"/>
          <p:cNvSpPr/>
          <p:nvPr/>
        </p:nvSpPr>
        <p:spPr>
          <a:xfrm>
            <a:off x="8686800" y="3474720"/>
            <a:ext cx="2743200" cy="8229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15"/>
          <p:cNvSpPr txBox="1"/>
          <p:nvPr/>
        </p:nvSpPr>
        <p:spPr>
          <a:xfrm>
            <a:off x="8732519" y="3611879"/>
            <a:ext cx="2651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600">
                <a:solidFill>
                  <a:srgbClr val="FD7E1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🔄 </a:t>
            </a:r>
            <a:r>
              <a:t>MEDIUM</a:t>
            </a:r>
          </a:p>
        </p:txBody>
      </p:sp>
      <p:sp>
        <p:nvSpPr>
          <p:cNvPr id="255" name="Rounded Rectangle 16"/>
          <p:cNvSpPr/>
          <p:nvPr/>
        </p:nvSpPr>
        <p:spPr>
          <a:xfrm>
            <a:off x="457200" y="4937759"/>
            <a:ext cx="11247120" cy="146304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17"/>
          <p:cNvSpPr/>
          <p:nvPr/>
        </p:nvSpPr>
        <p:spPr>
          <a:xfrm>
            <a:off x="457200" y="4937759"/>
            <a:ext cx="109728" cy="1463041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18"/>
          <p:cNvSpPr txBox="1"/>
          <p:nvPr/>
        </p:nvSpPr>
        <p:spPr>
          <a:xfrm>
            <a:off x="868680" y="5074920"/>
            <a:ext cx="274320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007BFF"/>
                </a:solidFill>
              </a:defRPr>
            </a:lvl1pPr>
          </a:lstStyle>
          <a:p>
            <a:pPr/>
            <a:r>
              <a:t>Priority 3 — Promotional</a:t>
            </a:r>
          </a:p>
        </p:txBody>
      </p:sp>
      <p:sp>
        <p:nvSpPr>
          <p:cNvPr id="258" name="TextBox 19"/>
          <p:cNvSpPr txBox="1"/>
          <p:nvPr/>
        </p:nvSpPr>
        <p:spPr>
          <a:xfrm>
            <a:off x="868680" y="5532120"/>
            <a:ext cx="6309360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Marketing emails, offers, newsletters</a:t>
            </a:r>
            <a:br/>
            <a:r>
              <a:t>— Can be delayed during peak load</a:t>
            </a:r>
          </a:p>
        </p:txBody>
      </p:sp>
      <p:sp>
        <p:nvSpPr>
          <p:cNvPr id="259" name="Rounded Rectangle 20"/>
          <p:cNvSpPr/>
          <p:nvPr/>
        </p:nvSpPr>
        <p:spPr>
          <a:xfrm>
            <a:off x="8686800" y="5212079"/>
            <a:ext cx="2743200" cy="8229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21"/>
          <p:cNvSpPr txBox="1"/>
          <p:nvPr/>
        </p:nvSpPr>
        <p:spPr>
          <a:xfrm>
            <a:off x="8732519" y="5349240"/>
            <a:ext cx="2651761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600">
                <a:solidFill>
                  <a:srgbClr val="007B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📋 </a:t>
            </a:r>
            <a:r>
              <a:t>LOWEST</a:t>
            </a:r>
          </a:p>
        </p:txBody>
      </p:sp>
      <p:sp>
        <p:nvSpPr>
          <p:cNvPr id="261" name="TextBox 22"/>
          <p:cNvSpPr txBox="1"/>
          <p:nvPr/>
        </p:nvSpPr>
        <p:spPr>
          <a:xfrm>
            <a:off x="777239" y="6400800"/>
            <a:ext cx="99669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888888"/>
                </a:solidFill>
              </a:defRPr>
            </a:lvl1pPr>
          </a:lstStyle>
          <a:p>
            <a:pPr/>
            <a:r>
              <a:t>Each priority level has its own Kafka topic and dedicated processor microservice for independent scaling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Apache Kafka — Event Streaming Backbone</a:t>
            </a:r>
          </a:p>
        </p:txBody>
      </p:sp>
      <p:sp>
        <p:nvSpPr>
          <p:cNvPr id="265" name="Rectangle 3"/>
          <p:cNvSpPr/>
          <p:nvPr/>
        </p:nvSpPr>
        <p:spPr>
          <a:xfrm>
            <a:off x="731519" y="1051560"/>
            <a:ext cx="3657601" cy="45721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Rounded Rectangle 4"/>
          <p:cNvSpPr/>
          <p:nvPr/>
        </p:nvSpPr>
        <p:spPr>
          <a:xfrm>
            <a:off x="457200" y="1463039"/>
            <a:ext cx="2011680" cy="18288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Rectangle 5"/>
          <p:cNvSpPr/>
          <p:nvPr/>
        </p:nvSpPr>
        <p:spPr>
          <a:xfrm>
            <a:off x="457200" y="1463039"/>
            <a:ext cx="2011679" cy="54865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6"/>
          <p:cNvSpPr txBox="1"/>
          <p:nvPr/>
        </p:nvSpPr>
        <p:spPr>
          <a:xfrm>
            <a:off x="594359" y="1645920"/>
            <a:ext cx="17373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DC3545"/>
                </a:solidFill>
              </a:defRPr>
            </a:lvl1pPr>
          </a:lstStyle>
          <a:p>
            <a:pPr/>
            <a:r>
              <a:t>priority-1</a:t>
            </a:r>
          </a:p>
        </p:txBody>
      </p:sp>
      <p:sp>
        <p:nvSpPr>
          <p:cNvPr id="269" name="TextBox 7"/>
          <p:cNvSpPr txBox="1"/>
          <p:nvPr/>
        </p:nvSpPr>
        <p:spPr>
          <a:xfrm>
            <a:off x="594359" y="2103120"/>
            <a:ext cx="17373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CCCCCC"/>
                </a:solidFill>
              </a:defRPr>
            </a:pPr>
            <a:r>
              <a:t>Transactional</a:t>
            </a:r>
            <a:br/>
            <a:r>
              <a:t>Notifications</a:t>
            </a:r>
          </a:p>
        </p:txBody>
      </p:sp>
      <p:sp>
        <p:nvSpPr>
          <p:cNvPr id="270" name="TextBox 8"/>
          <p:cNvSpPr txBox="1"/>
          <p:nvPr/>
        </p:nvSpPr>
        <p:spPr>
          <a:xfrm>
            <a:off x="594359" y="2834639"/>
            <a:ext cx="173736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888888"/>
                </a:solidFill>
              </a:defRPr>
            </a:lvl1pPr>
          </a:lstStyle>
          <a:p>
            <a:pPr/>
            <a:r>
              <a:t>3 Partitions</a:t>
            </a:r>
          </a:p>
        </p:txBody>
      </p:sp>
      <p:sp>
        <p:nvSpPr>
          <p:cNvPr id="271" name="Rounded Rectangle 9"/>
          <p:cNvSpPr/>
          <p:nvPr/>
        </p:nvSpPr>
        <p:spPr>
          <a:xfrm>
            <a:off x="2743200" y="1463039"/>
            <a:ext cx="2011680" cy="18288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Rectangle 10"/>
          <p:cNvSpPr/>
          <p:nvPr/>
        </p:nvSpPr>
        <p:spPr>
          <a:xfrm>
            <a:off x="2743200" y="1463039"/>
            <a:ext cx="2011679" cy="54865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11"/>
          <p:cNvSpPr txBox="1"/>
          <p:nvPr/>
        </p:nvSpPr>
        <p:spPr>
          <a:xfrm>
            <a:off x="2880360" y="1645920"/>
            <a:ext cx="1737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D7E14"/>
                </a:solidFill>
              </a:defRPr>
            </a:lvl1pPr>
          </a:lstStyle>
          <a:p>
            <a:pPr/>
            <a:r>
              <a:t>priority-2</a:t>
            </a:r>
          </a:p>
        </p:txBody>
      </p:sp>
      <p:sp>
        <p:nvSpPr>
          <p:cNvPr id="274" name="TextBox 12"/>
          <p:cNvSpPr txBox="1"/>
          <p:nvPr/>
        </p:nvSpPr>
        <p:spPr>
          <a:xfrm>
            <a:off x="2880360" y="2103120"/>
            <a:ext cx="173736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CCCCCC"/>
                </a:solidFill>
              </a:defRPr>
            </a:pPr>
            <a:r>
              <a:t>Informational</a:t>
            </a:r>
            <a:br/>
            <a:r>
              <a:t>Notifications</a:t>
            </a:r>
          </a:p>
        </p:txBody>
      </p:sp>
      <p:sp>
        <p:nvSpPr>
          <p:cNvPr id="275" name="TextBox 13"/>
          <p:cNvSpPr txBox="1"/>
          <p:nvPr/>
        </p:nvSpPr>
        <p:spPr>
          <a:xfrm>
            <a:off x="2880360" y="2834639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888888"/>
                </a:solidFill>
              </a:defRPr>
            </a:lvl1pPr>
          </a:lstStyle>
          <a:p>
            <a:pPr/>
            <a:r>
              <a:t>3 Partitions</a:t>
            </a:r>
          </a:p>
        </p:txBody>
      </p:sp>
      <p:sp>
        <p:nvSpPr>
          <p:cNvPr id="276" name="Rounded Rectangle 14"/>
          <p:cNvSpPr/>
          <p:nvPr/>
        </p:nvSpPr>
        <p:spPr>
          <a:xfrm>
            <a:off x="5029200" y="1463039"/>
            <a:ext cx="2011680" cy="18288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Rectangle 15"/>
          <p:cNvSpPr/>
          <p:nvPr/>
        </p:nvSpPr>
        <p:spPr>
          <a:xfrm>
            <a:off x="5029200" y="1463039"/>
            <a:ext cx="2011679" cy="54865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16"/>
          <p:cNvSpPr txBox="1"/>
          <p:nvPr/>
        </p:nvSpPr>
        <p:spPr>
          <a:xfrm>
            <a:off x="5166360" y="1645920"/>
            <a:ext cx="1737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007BFF"/>
                </a:solidFill>
              </a:defRPr>
            </a:lvl1pPr>
          </a:lstStyle>
          <a:p>
            <a:pPr/>
            <a:r>
              <a:t>priority-3</a:t>
            </a:r>
          </a:p>
        </p:txBody>
      </p:sp>
      <p:sp>
        <p:nvSpPr>
          <p:cNvPr id="279" name="TextBox 17"/>
          <p:cNvSpPr txBox="1"/>
          <p:nvPr/>
        </p:nvSpPr>
        <p:spPr>
          <a:xfrm>
            <a:off x="5166360" y="2103120"/>
            <a:ext cx="173736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CCCCCC"/>
                </a:solidFill>
              </a:defRPr>
            </a:pPr>
            <a:r>
              <a:t>Promotional</a:t>
            </a:r>
            <a:br/>
            <a:r>
              <a:t>Notifications</a:t>
            </a:r>
          </a:p>
        </p:txBody>
      </p:sp>
      <p:sp>
        <p:nvSpPr>
          <p:cNvPr id="280" name="TextBox 18"/>
          <p:cNvSpPr txBox="1"/>
          <p:nvPr/>
        </p:nvSpPr>
        <p:spPr>
          <a:xfrm>
            <a:off x="5166360" y="2834639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888888"/>
                </a:solidFill>
              </a:defRPr>
            </a:lvl1pPr>
          </a:lstStyle>
          <a:p>
            <a:pPr/>
            <a:r>
              <a:t>3 Partitions</a:t>
            </a:r>
          </a:p>
        </p:txBody>
      </p:sp>
      <p:sp>
        <p:nvSpPr>
          <p:cNvPr id="281" name="Rounded Rectangle 19"/>
          <p:cNvSpPr/>
          <p:nvPr/>
        </p:nvSpPr>
        <p:spPr>
          <a:xfrm>
            <a:off x="7315200" y="1463039"/>
            <a:ext cx="2011680" cy="18288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Rectangle 20"/>
          <p:cNvSpPr/>
          <p:nvPr/>
        </p:nvSpPr>
        <p:spPr>
          <a:xfrm>
            <a:off x="7315200" y="1463039"/>
            <a:ext cx="2011679" cy="54865"/>
          </a:xfrm>
          <a:prstGeom prst="rect">
            <a:avLst/>
          </a:prstGeom>
          <a:solidFill>
            <a:srgbClr val="20C9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TextBox 21"/>
          <p:cNvSpPr txBox="1"/>
          <p:nvPr/>
        </p:nvSpPr>
        <p:spPr>
          <a:xfrm>
            <a:off x="7452359" y="1645920"/>
            <a:ext cx="1737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20C997"/>
                </a:solidFill>
              </a:defRPr>
            </a:lvl1pPr>
          </a:lstStyle>
          <a:p>
            <a:pPr/>
            <a:r>
              <a:t>email-topic</a:t>
            </a:r>
          </a:p>
        </p:txBody>
      </p:sp>
      <p:sp>
        <p:nvSpPr>
          <p:cNvPr id="284" name="TextBox 22"/>
          <p:cNvSpPr txBox="1"/>
          <p:nvPr/>
        </p:nvSpPr>
        <p:spPr>
          <a:xfrm>
            <a:off x="7452359" y="2103120"/>
            <a:ext cx="173736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CCCCCC"/>
                </a:solidFill>
              </a:defRPr>
            </a:pPr>
            <a:r>
              <a:t>Email</a:t>
            </a:r>
            <a:br/>
            <a:r>
              <a:t>Messages</a:t>
            </a:r>
          </a:p>
        </p:txBody>
      </p:sp>
      <p:sp>
        <p:nvSpPr>
          <p:cNvPr id="285" name="TextBox 23"/>
          <p:cNvSpPr txBox="1"/>
          <p:nvPr/>
        </p:nvSpPr>
        <p:spPr>
          <a:xfrm>
            <a:off x="7452359" y="2834639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888888"/>
                </a:solidFill>
              </a:defRPr>
            </a:lvl1pPr>
          </a:lstStyle>
          <a:p>
            <a:pPr/>
            <a:r>
              <a:t>3 Partitions</a:t>
            </a:r>
          </a:p>
        </p:txBody>
      </p:sp>
      <p:sp>
        <p:nvSpPr>
          <p:cNvPr id="286" name="Rounded Rectangle 24"/>
          <p:cNvSpPr/>
          <p:nvPr/>
        </p:nvSpPr>
        <p:spPr>
          <a:xfrm>
            <a:off x="9601200" y="1463039"/>
            <a:ext cx="2011680" cy="18288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Rectangle 25"/>
          <p:cNvSpPr/>
          <p:nvPr/>
        </p:nvSpPr>
        <p:spPr>
          <a:xfrm>
            <a:off x="9601200" y="1463039"/>
            <a:ext cx="2011679" cy="54865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26"/>
          <p:cNvSpPr txBox="1"/>
          <p:nvPr/>
        </p:nvSpPr>
        <p:spPr>
          <a:xfrm>
            <a:off x="9738359" y="1645920"/>
            <a:ext cx="17373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6F42C1"/>
                </a:solidFill>
              </a:defRPr>
            </a:lvl1pPr>
          </a:lstStyle>
          <a:p>
            <a:pPr/>
            <a:r>
              <a:t>sms-topic</a:t>
            </a:r>
          </a:p>
        </p:txBody>
      </p:sp>
      <p:sp>
        <p:nvSpPr>
          <p:cNvPr id="289" name="TextBox 27"/>
          <p:cNvSpPr txBox="1"/>
          <p:nvPr/>
        </p:nvSpPr>
        <p:spPr>
          <a:xfrm>
            <a:off x="9738359" y="2103120"/>
            <a:ext cx="173736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200">
                <a:solidFill>
                  <a:srgbClr val="CCCCCC"/>
                </a:solidFill>
              </a:defRPr>
            </a:pPr>
            <a:r>
              <a:t>SMS</a:t>
            </a:r>
            <a:br/>
            <a:r>
              <a:t>Messages</a:t>
            </a:r>
          </a:p>
        </p:txBody>
      </p:sp>
      <p:sp>
        <p:nvSpPr>
          <p:cNvPr id="290" name="TextBox 28"/>
          <p:cNvSpPr txBox="1"/>
          <p:nvPr/>
        </p:nvSpPr>
        <p:spPr>
          <a:xfrm>
            <a:off x="9738359" y="2834639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888888"/>
                </a:solidFill>
              </a:defRPr>
            </a:lvl1pPr>
          </a:lstStyle>
          <a:p>
            <a:pPr/>
            <a:r>
              <a:t>3 Partitions</a:t>
            </a:r>
          </a:p>
        </p:txBody>
      </p:sp>
      <p:sp>
        <p:nvSpPr>
          <p:cNvPr id="291" name="Rounded Rectangle 29"/>
          <p:cNvSpPr/>
          <p:nvPr/>
        </p:nvSpPr>
        <p:spPr>
          <a:xfrm>
            <a:off x="457200" y="3657600"/>
            <a:ext cx="11247120" cy="27432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30"/>
          <p:cNvSpPr txBox="1"/>
          <p:nvPr/>
        </p:nvSpPr>
        <p:spPr>
          <a:xfrm>
            <a:off x="777239" y="3840479"/>
            <a:ext cx="44805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D7E14"/>
                </a:solidFill>
              </a:defRPr>
            </a:lvl1pPr>
          </a:lstStyle>
          <a:p>
            <a:pPr/>
            <a:r>
              <a:t>Kafka Message Flow</a:t>
            </a:r>
          </a:p>
        </p:txBody>
      </p:sp>
      <p:sp>
        <p:nvSpPr>
          <p:cNvPr id="293" name="TextBox 31"/>
          <p:cNvSpPr txBox="1"/>
          <p:nvPr/>
        </p:nvSpPr>
        <p:spPr>
          <a:xfrm>
            <a:off x="777239" y="4389120"/>
            <a:ext cx="9966961" cy="18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</a:defRPr>
            </a:pPr>
            <a:r>
              <a:t>1. Notification Service produces messages to priority topic (priority-1, 2, or 3)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</a:defRPr>
            </a:pPr>
            <a:r>
              <a:t>2. Priority Processor consumes from priority topic and processes the notification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</a:defRPr>
            </a:pPr>
            <a:r>
              <a:t>3. Processor routes to channel-specific topic (email-topic or sms-topic)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</a:defRPr>
            </a:pPr>
            <a:r>
              <a:t>4. Channel Consumer (Email/SMS) picks up from channel topic and sends via provider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</a:defRPr>
            </a:pPr>
            <a:r>
              <a:t>5. Each topic has 3 partitions — partition key = priority level for ordering</a:t>
            </a:r>
          </a:p>
          <a:p>
            <a:pPr>
              <a:spcBef>
                <a:spcPts val="600"/>
              </a:spcBef>
              <a:defRPr sz="1400">
                <a:solidFill>
                  <a:srgbClr val="CCCCCC"/>
                </a:solidFill>
              </a:defRPr>
            </a:pPr>
            <a:r>
              <a:t>6. Consumer groups ensure each message is processed exactly once per group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User Preferences &amp; Duplicate Prevention</a:t>
            </a:r>
          </a:p>
        </p:txBody>
      </p:sp>
      <p:sp>
        <p:nvSpPr>
          <p:cNvPr id="297" name="Rectangle 3"/>
          <p:cNvSpPr/>
          <p:nvPr/>
        </p:nvSpPr>
        <p:spPr>
          <a:xfrm>
            <a:off x="731519" y="1051560"/>
            <a:ext cx="3657601" cy="45721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Rounded Rectangle 4"/>
          <p:cNvSpPr/>
          <p:nvPr/>
        </p:nvSpPr>
        <p:spPr>
          <a:xfrm>
            <a:off x="457200" y="1463039"/>
            <a:ext cx="5303521" cy="47548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Rectangle 5"/>
          <p:cNvSpPr/>
          <p:nvPr/>
        </p:nvSpPr>
        <p:spPr>
          <a:xfrm>
            <a:off x="457199" y="1463039"/>
            <a:ext cx="5303522" cy="73153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6"/>
          <p:cNvSpPr txBox="1"/>
          <p:nvPr/>
        </p:nvSpPr>
        <p:spPr>
          <a:xfrm>
            <a:off x="777240" y="1691639"/>
            <a:ext cx="466344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6F42C1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👤  </a:t>
            </a:r>
            <a:r>
              <a:t>User Preferences</a:t>
            </a:r>
          </a:p>
        </p:txBody>
      </p:sp>
      <p:sp>
        <p:nvSpPr>
          <p:cNvPr id="301" name="TextBox 7"/>
          <p:cNvSpPr txBox="1"/>
          <p:nvPr/>
        </p:nvSpPr>
        <p:spPr>
          <a:xfrm>
            <a:off x="777240" y="2286000"/>
            <a:ext cx="4663440" cy="2160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Opt-in/out per channel (email, SMS)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Category-based filtering (transactional, informational, promotional)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Quiet hours configuration per channel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Preferences stored in MySQL 'preferences' table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Checked before sending any notification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If preference disallows → notification skipped + logged</a:t>
            </a:r>
          </a:p>
        </p:txBody>
      </p:sp>
      <p:sp>
        <p:nvSpPr>
          <p:cNvPr id="302" name="Rounded Rectangle 8"/>
          <p:cNvSpPr/>
          <p:nvPr/>
        </p:nvSpPr>
        <p:spPr>
          <a:xfrm>
            <a:off x="6217920" y="1463039"/>
            <a:ext cx="5303521" cy="47548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Rectangle 9"/>
          <p:cNvSpPr/>
          <p:nvPr/>
        </p:nvSpPr>
        <p:spPr>
          <a:xfrm>
            <a:off x="6217920" y="1463039"/>
            <a:ext cx="5303521" cy="73153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10"/>
          <p:cNvSpPr txBox="1"/>
          <p:nvPr/>
        </p:nvSpPr>
        <p:spPr>
          <a:xfrm>
            <a:off x="6537959" y="1691639"/>
            <a:ext cx="4663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DC3545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🛡️  </a:t>
            </a:r>
            <a:r>
              <a:t>Duplicate Prevention</a:t>
            </a:r>
          </a:p>
        </p:txBody>
      </p:sp>
      <p:sp>
        <p:nvSpPr>
          <p:cNvPr id="305" name="TextBox 11"/>
          <p:cNvSpPr txBox="1"/>
          <p:nvPr/>
        </p:nvSpPr>
        <p:spPr>
          <a:xfrm>
            <a:off x="6537959" y="2286000"/>
            <a:ext cx="4663441" cy="1931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UNIQUE constraint on message_hash in DB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Hash = SHA-256 of (userId + channel + message content)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If hash exists → DuplicateNotificationFoundException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Prevents accidental re-sends from retries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Ensures idempotency across the system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Hash checked before saving notification to DB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Database Schema Design — MySQL</a:t>
            </a:r>
          </a:p>
        </p:txBody>
      </p:sp>
      <p:sp>
        <p:nvSpPr>
          <p:cNvPr id="309" name="Rectangle 3"/>
          <p:cNvSpPr/>
          <p:nvPr/>
        </p:nvSpPr>
        <p:spPr>
          <a:xfrm>
            <a:off x="731519" y="1051560"/>
            <a:ext cx="3200401" cy="45721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Rounded Rectangle 4"/>
          <p:cNvSpPr/>
          <p:nvPr/>
        </p:nvSpPr>
        <p:spPr>
          <a:xfrm>
            <a:off x="274320" y="1463039"/>
            <a:ext cx="2148840" cy="32004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Rectangle 5"/>
          <p:cNvSpPr/>
          <p:nvPr/>
        </p:nvSpPr>
        <p:spPr>
          <a:xfrm>
            <a:off x="274320" y="1463039"/>
            <a:ext cx="2148840" cy="54865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6"/>
          <p:cNvSpPr txBox="1"/>
          <p:nvPr/>
        </p:nvSpPr>
        <p:spPr>
          <a:xfrm>
            <a:off x="411479" y="1645920"/>
            <a:ext cx="187452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007BFF"/>
                </a:solidFill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313" name="TextBox 7"/>
          <p:cNvSpPr txBox="1"/>
          <p:nvPr/>
        </p:nvSpPr>
        <p:spPr>
          <a:xfrm>
            <a:off x="411479" y="2103120"/>
            <a:ext cx="187452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id, name, email, phone,</a:t>
            </a:r>
            <a:br/>
            <a:r>
              <a:t>created_at, updated_at</a:t>
            </a:r>
          </a:p>
        </p:txBody>
      </p:sp>
      <p:sp>
        <p:nvSpPr>
          <p:cNvPr id="314" name="TextBox 8"/>
          <p:cNvSpPr txBox="1"/>
          <p:nvPr/>
        </p:nvSpPr>
        <p:spPr>
          <a:xfrm>
            <a:off x="411479" y="3291840"/>
            <a:ext cx="187452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Core user data for</a:t>
            </a:r>
            <a:br/>
            <a:r>
              <a:t>notification delivery</a:t>
            </a:r>
          </a:p>
        </p:txBody>
      </p:sp>
      <p:sp>
        <p:nvSpPr>
          <p:cNvPr id="315" name="Rounded Rectangle 9"/>
          <p:cNvSpPr/>
          <p:nvPr/>
        </p:nvSpPr>
        <p:spPr>
          <a:xfrm>
            <a:off x="2606038" y="1463039"/>
            <a:ext cx="2148841" cy="32004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Rectangle 10"/>
          <p:cNvSpPr/>
          <p:nvPr/>
        </p:nvSpPr>
        <p:spPr>
          <a:xfrm>
            <a:off x="2606038" y="1463039"/>
            <a:ext cx="2148841" cy="54865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11"/>
          <p:cNvSpPr txBox="1"/>
          <p:nvPr/>
        </p:nvSpPr>
        <p:spPr>
          <a:xfrm>
            <a:off x="2743198" y="1645920"/>
            <a:ext cx="18745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28A745"/>
                </a:solidFill>
              </a:defRPr>
            </a:lvl1pPr>
          </a:lstStyle>
          <a:p>
            <a:pPr/>
            <a:r>
              <a:t>notifications</a:t>
            </a:r>
          </a:p>
        </p:txBody>
      </p:sp>
      <p:sp>
        <p:nvSpPr>
          <p:cNvPr id="318" name="TextBox 12"/>
          <p:cNvSpPr txBox="1"/>
          <p:nvPr/>
        </p:nvSpPr>
        <p:spPr>
          <a:xfrm>
            <a:off x="2743198" y="2103120"/>
            <a:ext cx="1874521" cy="55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id, user_id, channel, message,</a:t>
            </a:r>
            <a:br/>
            <a:r>
              <a:t>request_content, message_hash</a:t>
            </a:r>
          </a:p>
        </p:txBody>
      </p:sp>
      <p:sp>
        <p:nvSpPr>
          <p:cNvPr id="319" name="TextBox 13"/>
          <p:cNvSpPr txBox="1"/>
          <p:nvPr/>
        </p:nvSpPr>
        <p:spPr>
          <a:xfrm>
            <a:off x="2743198" y="3291840"/>
            <a:ext cx="18745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Tracks each notification</a:t>
            </a:r>
            <a:br/>
            <a:r>
              <a:t>with FK to users</a:t>
            </a:r>
          </a:p>
        </p:txBody>
      </p:sp>
      <p:sp>
        <p:nvSpPr>
          <p:cNvPr id="320" name="Rounded Rectangle 14"/>
          <p:cNvSpPr/>
          <p:nvPr/>
        </p:nvSpPr>
        <p:spPr>
          <a:xfrm>
            <a:off x="4937759" y="1463039"/>
            <a:ext cx="2148841" cy="32004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Rectangle 15"/>
          <p:cNvSpPr/>
          <p:nvPr/>
        </p:nvSpPr>
        <p:spPr>
          <a:xfrm>
            <a:off x="4937759" y="1463039"/>
            <a:ext cx="2148841" cy="54865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TextBox 16"/>
          <p:cNvSpPr txBox="1"/>
          <p:nvPr/>
        </p:nvSpPr>
        <p:spPr>
          <a:xfrm>
            <a:off x="5074918" y="1645920"/>
            <a:ext cx="18745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6F42C1"/>
                </a:solidFill>
              </a:defRPr>
            </a:lvl1pPr>
          </a:lstStyle>
          <a:p>
            <a:pPr/>
            <a:r>
              <a:t>preferences</a:t>
            </a:r>
          </a:p>
        </p:txBody>
      </p:sp>
      <p:sp>
        <p:nvSpPr>
          <p:cNvPr id="323" name="TextBox 17"/>
          <p:cNvSpPr txBox="1"/>
          <p:nvPr/>
        </p:nvSpPr>
        <p:spPr>
          <a:xfrm>
            <a:off x="5074918" y="2103120"/>
            <a:ext cx="18745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id, user_id, channel,</a:t>
            </a:r>
            <a:br/>
            <a:r>
              <a:t>enabled, priority, quiet_hours</a:t>
            </a:r>
          </a:p>
        </p:txBody>
      </p:sp>
      <p:sp>
        <p:nvSpPr>
          <p:cNvPr id="324" name="TextBox 18"/>
          <p:cNvSpPr txBox="1"/>
          <p:nvPr/>
        </p:nvSpPr>
        <p:spPr>
          <a:xfrm>
            <a:off x="5074918" y="3291840"/>
            <a:ext cx="18745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User opt-in/out settings</a:t>
            </a:r>
            <a:br/>
            <a:r>
              <a:t>per channel</a:t>
            </a:r>
          </a:p>
        </p:txBody>
      </p:sp>
      <p:sp>
        <p:nvSpPr>
          <p:cNvPr id="325" name="Rounded Rectangle 19"/>
          <p:cNvSpPr/>
          <p:nvPr/>
        </p:nvSpPr>
        <p:spPr>
          <a:xfrm>
            <a:off x="7269478" y="1463039"/>
            <a:ext cx="2148841" cy="32004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Rectangle 20"/>
          <p:cNvSpPr/>
          <p:nvPr/>
        </p:nvSpPr>
        <p:spPr>
          <a:xfrm>
            <a:off x="7269478" y="1463039"/>
            <a:ext cx="2148841" cy="54865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21"/>
          <p:cNvSpPr txBox="1"/>
          <p:nvPr/>
        </p:nvSpPr>
        <p:spPr>
          <a:xfrm>
            <a:off x="7406638" y="1645920"/>
            <a:ext cx="18745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D7E14"/>
                </a:solidFill>
              </a:defRPr>
            </a:lvl1pPr>
          </a:lstStyle>
          <a:p>
            <a:pPr/>
            <a:r>
              <a:t>delivery_logs</a:t>
            </a:r>
          </a:p>
        </p:txBody>
      </p:sp>
      <p:sp>
        <p:nvSpPr>
          <p:cNvPr id="328" name="TextBox 22"/>
          <p:cNvSpPr txBox="1"/>
          <p:nvPr/>
        </p:nvSpPr>
        <p:spPr>
          <a:xfrm>
            <a:off x="7406638" y="2103120"/>
            <a:ext cx="18745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id, notification_id, channel,</a:t>
            </a:r>
            <a:br/>
            <a:r>
              <a:t>status, details</a:t>
            </a:r>
          </a:p>
        </p:txBody>
      </p:sp>
      <p:sp>
        <p:nvSpPr>
          <p:cNvPr id="329" name="TextBox 23"/>
          <p:cNvSpPr txBox="1"/>
          <p:nvPr/>
        </p:nvSpPr>
        <p:spPr>
          <a:xfrm>
            <a:off x="7406638" y="3291840"/>
            <a:ext cx="18745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Delivery tracking with</a:t>
            </a:r>
            <a:br/>
            <a:r>
              <a:t>FK to notifications</a:t>
            </a:r>
          </a:p>
        </p:txBody>
      </p:sp>
      <p:sp>
        <p:nvSpPr>
          <p:cNvPr id="330" name="Rounded Rectangle 24"/>
          <p:cNvSpPr/>
          <p:nvPr/>
        </p:nvSpPr>
        <p:spPr>
          <a:xfrm>
            <a:off x="9601200" y="1463039"/>
            <a:ext cx="2148840" cy="32004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Rectangle 25"/>
          <p:cNvSpPr/>
          <p:nvPr/>
        </p:nvSpPr>
        <p:spPr>
          <a:xfrm>
            <a:off x="9601200" y="1463039"/>
            <a:ext cx="2148840" cy="54865"/>
          </a:xfrm>
          <a:prstGeom prst="rect">
            <a:avLst/>
          </a:prstGeom>
          <a:solidFill>
            <a:srgbClr val="20C9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TextBox 26"/>
          <p:cNvSpPr txBox="1"/>
          <p:nvPr/>
        </p:nvSpPr>
        <p:spPr>
          <a:xfrm>
            <a:off x="9738359" y="1645920"/>
            <a:ext cx="187452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20C997"/>
                </a:solidFill>
              </a:defRPr>
            </a:lvl1pPr>
          </a:lstStyle>
          <a:p>
            <a:pPr/>
            <a:r>
              <a:t>templates</a:t>
            </a:r>
          </a:p>
        </p:txBody>
      </p:sp>
      <p:sp>
        <p:nvSpPr>
          <p:cNvPr id="333" name="TextBox 27"/>
          <p:cNvSpPr txBox="1"/>
          <p:nvPr/>
        </p:nvSpPr>
        <p:spPr>
          <a:xfrm>
            <a:off x="9738359" y="2103120"/>
            <a:ext cx="18745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CCCCCC"/>
                </a:solidFill>
              </a:defRPr>
            </a:pPr>
            <a:r>
              <a:t>id, name, content,</a:t>
            </a:r>
            <a:br/>
            <a:r>
              <a:t>placeholders</a:t>
            </a:r>
          </a:p>
        </p:txBody>
      </p:sp>
      <p:sp>
        <p:nvSpPr>
          <p:cNvPr id="334" name="TextBox 28"/>
          <p:cNvSpPr txBox="1"/>
          <p:nvPr/>
        </p:nvSpPr>
        <p:spPr>
          <a:xfrm>
            <a:off x="9738359" y="3291840"/>
            <a:ext cx="187452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100">
                <a:solidFill>
                  <a:srgbClr val="888888"/>
                </a:solidFill>
              </a:defRPr>
            </a:pPr>
            <a:r>
              <a:t>Reusable message</a:t>
            </a:r>
            <a:br/>
            <a:r>
              <a:t>templates</a:t>
            </a:r>
          </a:p>
        </p:txBody>
      </p:sp>
      <p:sp>
        <p:nvSpPr>
          <p:cNvPr id="335" name="Rounded Rectangle 29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TextBox 30"/>
          <p:cNvSpPr txBox="1"/>
          <p:nvPr/>
        </p:nvSpPr>
        <p:spPr>
          <a:xfrm>
            <a:off x="777239" y="5212079"/>
            <a:ext cx="99669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8A745"/>
                </a:solidFill>
              </a:defRPr>
            </a:lvl1pPr>
          </a:lstStyle>
          <a:p>
            <a:pPr/>
            <a:r>
              <a:t>Foreign Key Relationships</a:t>
            </a:r>
          </a:p>
        </p:txBody>
      </p:sp>
      <p:sp>
        <p:nvSpPr>
          <p:cNvPr id="337" name="TextBox 31"/>
          <p:cNvSpPr txBox="1"/>
          <p:nvPr/>
        </p:nvSpPr>
        <p:spPr>
          <a:xfrm>
            <a:off x="777239" y="5623559"/>
            <a:ext cx="9966961" cy="512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notifications.user_id → users.id  |  delivery_logs.notification_id → notifications.id  |  preferences.user_id → users.id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message_hash has UNIQUE constraint for duplicate prevention  |  All tables use AUTO_INCREMENT primary keys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API Design — RESTful Notification API</a:t>
            </a:r>
          </a:p>
        </p:txBody>
      </p:sp>
      <p:sp>
        <p:nvSpPr>
          <p:cNvPr id="341" name="Rectangle 3"/>
          <p:cNvSpPr/>
          <p:nvPr/>
        </p:nvSpPr>
        <p:spPr>
          <a:xfrm>
            <a:off x="731519" y="1051560"/>
            <a:ext cx="3200401" cy="45721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Rounded Rectangle 4"/>
          <p:cNvSpPr/>
          <p:nvPr/>
        </p:nvSpPr>
        <p:spPr>
          <a:xfrm>
            <a:off x="457200" y="1463039"/>
            <a:ext cx="11247120" cy="10972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TextBox 5"/>
          <p:cNvSpPr txBox="1"/>
          <p:nvPr/>
        </p:nvSpPr>
        <p:spPr>
          <a:xfrm>
            <a:off x="777239" y="1600200"/>
            <a:ext cx="1737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28A745"/>
                </a:solidFill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344" name="TextBox 6"/>
          <p:cNvSpPr txBox="1"/>
          <p:nvPr/>
        </p:nvSpPr>
        <p:spPr>
          <a:xfrm>
            <a:off x="2606040" y="1600200"/>
            <a:ext cx="813816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007BFF"/>
                </a:solidFill>
              </a:defRPr>
            </a:lvl1pPr>
          </a:lstStyle>
          <a:p>
            <a:pPr/>
            <a:r>
              <a:t>http://localhost:8080/api/send-notification</a:t>
            </a:r>
          </a:p>
        </p:txBody>
      </p:sp>
      <p:sp>
        <p:nvSpPr>
          <p:cNvPr id="345" name="TextBox 7"/>
          <p:cNvSpPr txBox="1"/>
          <p:nvPr/>
        </p:nvSpPr>
        <p:spPr>
          <a:xfrm>
            <a:off x="777239" y="1965960"/>
            <a:ext cx="99669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88888"/>
                </a:solidFill>
              </a:defRPr>
            </a:lvl1pPr>
          </a:lstStyle>
          <a:p>
            <a:pPr/>
            <a:r>
              <a:t>Content-Type: application/json</a:t>
            </a:r>
          </a:p>
        </p:txBody>
      </p:sp>
      <p:sp>
        <p:nvSpPr>
          <p:cNvPr id="346" name="Rounded Rectangle 8"/>
          <p:cNvSpPr/>
          <p:nvPr/>
        </p:nvSpPr>
        <p:spPr>
          <a:xfrm>
            <a:off x="457200" y="2834639"/>
            <a:ext cx="5303521" cy="36576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9"/>
          <p:cNvSpPr txBox="1"/>
          <p:nvPr/>
        </p:nvSpPr>
        <p:spPr>
          <a:xfrm>
            <a:off x="777240" y="3017520"/>
            <a:ext cx="466344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007BFF"/>
                </a:solidFill>
              </a:defRPr>
            </a:lvl1pPr>
          </a:lstStyle>
          <a:p>
            <a:pPr/>
            <a:r>
              <a:t>Request Body</a:t>
            </a:r>
          </a:p>
        </p:txBody>
      </p:sp>
      <p:sp>
        <p:nvSpPr>
          <p:cNvPr id="348" name="TextBox 10"/>
          <p:cNvSpPr txBox="1"/>
          <p:nvPr/>
        </p:nvSpPr>
        <p:spPr>
          <a:xfrm>
            <a:off x="777240" y="3520440"/>
            <a:ext cx="4663440" cy="2839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{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"notificationPriority": 1,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"channels": ["email", "sms"],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"recipient": {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  "userId": "1",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  "userEmail": "user@example.com"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},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"content": {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  "usingTemplates": false,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  "message": "Hello World",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  "emailSubject": "Test Email"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  }</a:t>
            </a:r>
          </a:p>
          <a:p>
            <a:pPr>
              <a:spcBef>
                <a:spcPts val="200"/>
              </a:spcBef>
              <a:defRPr sz="1200">
                <a:solidFill>
                  <a:srgbClr val="20C997"/>
                </a:solidFill>
              </a:defRPr>
            </a:pPr>
            <a:r>
              <a:t>}</a:t>
            </a:r>
          </a:p>
        </p:txBody>
      </p:sp>
      <p:sp>
        <p:nvSpPr>
          <p:cNvPr id="349" name="Rounded Rectangle 11"/>
          <p:cNvSpPr/>
          <p:nvPr/>
        </p:nvSpPr>
        <p:spPr>
          <a:xfrm>
            <a:off x="6217920" y="2834639"/>
            <a:ext cx="5303521" cy="365760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TextBox 12"/>
          <p:cNvSpPr txBox="1"/>
          <p:nvPr/>
        </p:nvSpPr>
        <p:spPr>
          <a:xfrm>
            <a:off x="6537959" y="3017520"/>
            <a:ext cx="466344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28A745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351" name="TextBox 13"/>
          <p:cNvSpPr txBox="1"/>
          <p:nvPr/>
        </p:nvSpPr>
        <p:spPr>
          <a:xfrm>
            <a:off x="6537959" y="3520440"/>
            <a:ext cx="4663441" cy="2544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200 OK — Notification accepted for processing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400 Bad Request — Invalid channel or missing fields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409 Conflict — Duplicate notification detected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500 Internal Server Error — Processing failure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Response Body: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"Notification accepted for processing."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Channels: email, sms</a:t>
            </a:r>
          </a:p>
          <a:p>
            <a:pPr>
              <a:spcBef>
                <a:spcPts val="400"/>
              </a:spcBef>
              <a:defRPr sz="1300">
                <a:solidFill>
                  <a:srgbClr val="CCCCCC"/>
                </a:solidFill>
              </a:defRPr>
            </a:pPr>
            <a:r>
              <a:t>Priority: 1 (Transactional), 2 (Informational), 3 (Promotional)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End-to-End Notification Flow</a:t>
            </a:r>
          </a:p>
        </p:txBody>
      </p:sp>
      <p:sp>
        <p:nvSpPr>
          <p:cNvPr id="355" name="Rectangle 3"/>
          <p:cNvSpPr/>
          <p:nvPr/>
        </p:nvSpPr>
        <p:spPr>
          <a:xfrm>
            <a:off x="731519" y="1051560"/>
            <a:ext cx="2743201" cy="45721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Rounded Rectangle 4"/>
          <p:cNvSpPr/>
          <p:nvPr/>
        </p:nvSpPr>
        <p:spPr>
          <a:xfrm>
            <a:off x="457200" y="1371600"/>
            <a:ext cx="11247120" cy="6400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Rectangle 5"/>
          <p:cNvSpPr/>
          <p:nvPr/>
        </p:nvSpPr>
        <p:spPr>
          <a:xfrm>
            <a:off x="457200" y="1371600"/>
            <a:ext cx="73153" cy="640081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60" name="Oval 6"/>
          <p:cNvGrpSpPr/>
          <p:nvPr/>
        </p:nvGrpSpPr>
        <p:grpSpPr>
          <a:xfrm>
            <a:off x="685800" y="1463039"/>
            <a:ext cx="457200" cy="457201"/>
            <a:chOff x="0" y="0"/>
            <a:chExt cx="457200" cy="457200"/>
          </a:xfrm>
        </p:grpSpPr>
        <p:sp>
          <p:nvSpPr>
            <p:cNvPr id="358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007B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9" name="1"/>
            <p:cNvSpPr txBox="1"/>
            <p:nvPr/>
          </p:nvSpPr>
          <p:spPr>
            <a:xfrm>
              <a:off x="112675" y="78303"/>
              <a:ext cx="231850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361" name="TextBox 7"/>
          <p:cNvSpPr txBox="1"/>
          <p:nvPr/>
        </p:nvSpPr>
        <p:spPr>
          <a:xfrm>
            <a:off x="1417319" y="1444752"/>
            <a:ext cx="2651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007BFF"/>
                </a:solidFill>
              </a:defRPr>
            </a:lvl1pPr>
          </a:lstStyle>
          <a:p>
            <a:pPr/>
            <a:r>
              <a:t>Client Request</a:t>
            </a:r>
          </a:p>
        </p:txBody>
      </p:sp>
      <p:sp>
        <p:nvSpPr>
          <p:cNvPr id="362" name="TextBox 8"/>
          <p:cNvSpPr txBox="1"/>
          <p:nvPr/>
        </p:nvSpPr>
        <p:spPr>
          <a:xfrm>
            <a:off x="4434840" y="1444752"/>
            <a:ext cx="676656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POST /api/send-notification</a:t>
            </a:r>
            <a:br/>
            <a:r>
              <a:t>with JSON payload</a:t>
            </a:r>
          </a:p>
        </p:txBody>
      </p:sp>
      <p:sp>
        <p:nvSpPr>
          <p:cNvPr id="363" name="Rounded Rectangle 9"/>
          <p:cNvSpPr/>
          <p:nvPr/>
        </p:nvSpPr>
        <p:spPr>
          <a:xfrm>
            <a:off x="457200" y="2121407"/>
            <a:ext cx="11247120" cy="6400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Rectangle 10"/>
          <p:cNvSpPr/>
          <p:nvPr/>
        </p:nvSpPr>
        <p:spPr>
          <a:xfrm>
            <a:off x="457200" y="2121407"/>
            <a:ext cx="73153" cy="640081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67" name="Oval 11"/>
          <p:cNvGrpSpPr/>
          <p:nvPr/>
        </p:nvGrpSpPr>
        <p:grpSpPr>
          <a:xfrm>
            <a:off x="685800" y="2212848"/>
            <a:ext cx="457200" cy="457201"/>
            <a:chOff x="0" y="0"/>
            <a:chExt cx="457200" cy="457200"/>
          </a:xfrm>
        </p:grpSpPr>
        <p:sp>
          <p:nvSpPr>
            <p:cNvPr id="365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6F42C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66" name="2"/>
            <p:cNvSpPr txBox="1"/>
            <p:nvPr/>
          </p:nvSpPr>
          <p:spPr>
            <a:xfrm>
              <a:off x="112675" y="78303"/>
              <a:ext cx="231850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368" name="TextBox 12"/>
          <p:cNvSpPr txBox="1"/>
          <p:nvPr/>
        </p:nvSpPr>
        <p:spPr>
          <a:xfrm>
            <a:off x="1417319" y="2194560"/>
            <a:ext cx="2651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6F42C1"/>
                </a:solidFill>
              </a:defRPr>
            </a:lvl1pPr>
          </a:lstStyle>
          <a:p>
            <a:pPr/>
            <a:r>
              <a:t>Notification Service</a:t>
            </a:r>
          </a:p>
        </p:txBody>
      </p:sp>
      <p:sp>
        <p:nvSpPr>
          <p:cNvPr id="369" name="TextBox 13"/>
          <p:cNvSpPr txBox="1"/>
          <p:nvPr/>
        </p:nvSpPr>
        <p:spPr>
          <a:xfrm>
            <a:off x="4434840" y="2194560"/>
            <a:ext cx="676656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Validates request, checks</a:t>
            </a:r>
            <a:br/>
            <a:r>
              <a:t>duplicate via message_hash</a:t>
            </a:r>
          </a:p>
        </p:txBody>
      </p:sp>
      <p:sp>
        <p:nvSpPr>
          <p:cNvPr id="370" name="Rounded Rectangle 14"/>
          <p:cNvSpPr/>
          <p:nvPr/>
        </p:nvSpPr>
        <p:spPr>
          <a:xfrm>
            <a:off x="457200" y="2871215"/>
            <a:ext cx="11247120" cy="6400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Rectangle 15"/>
          <p:cNvSpPr/>
          <p:nvPr/>
        </p:nvSpPr>
        <p:spPr>
          <a:xfrm>
            <a:off x="457200" y="2871215"/>
            <a:ext cx="73153" cy="640081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74" name="Oval 16"/>
          <p:cNvGrpSpPr/>
          <p:nvPr/>
        </p:nvGrpSpPr>
        <p:grpSpPr>
          <a:xfrm>
            <a:off x="685800" y="2962655"/>
            <a:ext cx="457200" cy="457201"/>
            <a:chOff x="0" y="0"/>
            <a:chExt cx="457200" cy="457200"/>
          </a:xfrm>
        </p:grpSpPr>
        <p:sp>
          <p:nvSpPr>
            <p:cNvPr id="372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FD7E14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73" name="3"/>
            <p:cNvSpPr txBox="1"/>
            <p:nvPr/>
          </p:nvSpPr>
          <p:spPr>
            <a:xfrm>
              <a:off x="112675" y="78303"/>
              <a:ext cx="231850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375" name="TextBox 17"/>
          <p:cNvSpPr txBox="1"/>
          <p:nvPr/>
        </p:nvSpPr>
        <p:spPr>
          <a:xfrm>
            <a:off x="1417319" y="2944366"/>
            <a:ext cx="265176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D7E14"/>
                </a:solidFill>
              </a:defRPr>
            </a:lvl1pPr>
          </a:lstStyle>
          <a:p>
            <a:pPr/>
            <a:r>
              <a:t>Kafka Priority Topic</a:t>
            </a:r>
          </a:p>
        </p:txBody>
      </p:sp>
      <p:sp>
        <p:nvSpPr>
          <p:cNvPr id="376" name="TextBox 18"/>
          <p:cNvSpPr txBox="1"/>
          <p:nvPr/>
        </p:nvSpPr>
        <p:spPr>
          <a:xfrm>
            <a:off x="4434840" y="2944366"/>
            <a:ext cx="6766560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Routes to priority-1/2/3</a:t>
            </a:r>
            <a:br/>
            <a:r>
              <a:t>based on notificationPriority</a:t>
            </a:r>
          </a:p>
        </p:txBody>
      </p:sp>
      <p:sp>
        <p:nvSpPr>
          <p:cNvPr id="377" name="Rounded Rectangle 19"/>
          <p:cNvSpPr/>
          <p:nvPr/>
        </p:nvSpPr>
        <p:spPr>
          <a:xfrm>
            <a:off x="457200" y="3621023"/>
            <a:ext cx="11247120" cy="6400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Rectangle 20"/>
          <p:cNvSpPr/>
          <p:nvPr/>
        </p:nvSpPr>
        <p:spPr>
          <a:xfrm>
            <a:off x="457200" y="3621023"/>
            <a:ext cx="73153" cy="640081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81" name="Oval 21"/>
          <p:cNvGrpSpPr/>
          <p:nvPr/>
        </p:nvGrpSpPr>
        <p:grpSpPr>
          <a:xfrm>
            <a:off x="685800" y="3712464"/>
            <a:ext cx="457200" cy="457201"/>
            <a:chOff x="0" y="0"/>
            <a:chExt cx="457200" cy="457200"/>
          </a:xfrm>
        </p:grpSpPr>
        <p:sp>
          <p:nvSpPr>
            <p:cNvPr id="379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DC354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80" name="4"/>
            <p:cNvSpPr txBox="1"/>
            <p:nvPr/>
          </p:nvSpPr>
          <p:spPr>
            <a:xfrm>
              <a:off x="112675" y="78303"/>
              <a:ext cx="231850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382" name="TextBox 22"/>
          <p:cNvSpPr txBox="1"/>
          <p:nvPr/>
        </p:nvSpPr>
        <p:spPr>
          <a:xfrm>
            <a:off x="1417319" y="3694176"/>
            <a:ext cx="2651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DC3545"/>
                </a:solidFill>
              </a:defRPr>
            </a:lvl1pPr>
          </a:lstStyle>
          <a:p>
            <a:pPr/>
            <a:r>
              <a:t>Priority Processor</a:t>
            </a:r>
          </a:p>
        </p:txBody>
      </p:sp>
      <p:sp>
        <p:nvSpPr>
          <p:cNvPr id="383" name="TextBox 23"/>
          <p:cNvSpPr txBox="1"/>
          <p:nvPr/>
        </p:nvSpPr>
        <p:spPr>
          <a:xfrm>
            <a:off x="4434840" y="3694176"/>
            <a:ext cx="676656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Fetches user, checks preferences,</a:t>
            </a:r>
            <a:br/>
            <a:r>
              <a:t>prepares channel-specific request</a:t>
            </a:r>
          </a:p>
        </p:txBody>
      </p:sp>
      <p:sp>
        <p:nvSpPr>
          <p:cNvPr id="384" name="Rounded Rectangle 24"/>
          <p:cNvSpPr/>
          <p:nvPr/>
        </p:nvSpPr>
        <p:spPr>
          <a:xfrm>
            <a:off x="457200" y="4370830"/>
            <a:ext cx="11247120" cy="6400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Rectangle 25"/>
          <p:cNvSpPr/>
          <p:nvPr/>
        </p:nvSpPr>
        <p:spPr>
          <a:xfrm>
            <a:off x="457200" y="4370830"/>
            <a:ext cx="73153" cy="640081"/>
          </a:xfrm>
          <a:prstGeom prst="rect">
            <a:avLst/>
          </a:prstGeom>
          <a:solidFill>
            <a:srgbClr val="20C9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88" name="Oval 26"/>
          <p:cNvGrpSpPr/>
          <p:nvPr/>
        </p:nvGrpSpPr>
        <p:grpSpPr>
          <a:xfrm>
            <a:off x="685800" y="4462271"/>
            <a:ext cx="457200" cy="457201"/>
            <a:chOff x="0" y="0"/>
            <a:chExt cx="457200" cy="457200"/>
          </a:xfrm>
        </p:grpSpPr>
        <p:sp>
          <p:nvSpPr>
            <p:cNvPr id="386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20C997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87" name="5"/>
            <p:cNvSpPr txBox="1"/>
            <p:nvPr/>
          </p:nvSpPr>
          <p:spPr>
            <a:xfrm>
              <a:off x="112675" y="78303"/>
              <a:ext cx="231850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389" name="TextBox 27"/>
          <p:cNvSpPr txBox="1"/>
          <p:nvPr/>
        </p:nvSpPr>
        <p:spPr>
          <a:xfrm>
            <a:off x="1417319" y="4443983"/>
            <a:ext cx="2651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0C997"/>
                </a:solidFill>
              </a:defRPr>
            </a:lvl1pPr>
          </a:lstStyle>
          <a:p>
            <a:pPr/>
            <a:r>
              <a:t>Kafka Channel Topic</a:t>
            </a:r>
          </a:p>
        </p:txBody>
      </p:sp>
      <p:sp>
        <p:nvSpPr>
          <p:cNvPr id="390" name="TextBox 28"/>
          <p:cNvSpPr txBox="1"/>
          <p:nvPr/>
        </p:nvSpPr>
        <p:spPr>
          <a:xfrm>
            <a:off x="4434840" y="4443983"/>
            <a:ext cx="676656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Routes to email-topic</a:t>
            </a:r>
            <a:br/>
            <a:r>
              <a:t>or sms-topic</a:t>
            </a:r>
          </a:p>
        </p:txBody>
      </p:sp>
      <p:sp>
        <p:nvSpPr>
          <p:cNvPr id="391" name="Rounded Rectangle 29"/>
          <p:cNvSpPr/>
          <p:nvPr/>
        </p:nvSpPr>
        <p:spPr>
          <a:xfrm>
            <a:off x="457200" y="5120640"/>
            <a:ext cx="11247120" cy="6400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Rectangle 30"/>
          <p:cNvSpPr/>
          <p:nvPr/>
        </p:nvSpPr>
        <p:spPr>
          <a:xfrm>
            <a:off x="457200" y="5120640"/>
            <a:ext cx="73153" cy="640081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95" name="Oval 31"/>
          <p:cNvGrpSpPr/>
          <p:nvPr/>
        </p:nvGrpSpPr>
        <p:grpSpPr>
          <a:xfrm>
            <a:off x="685800" y="5212079"/>
            <a:ext cx="457200" cy="457201"/>
            <a:chOff x="0" y="0"/>
            <a:chExt cx="457200" cy="457200"/>
          </a:xfrm>
        </p:grpSpPr>
        <p:sp>
          <p:nvSpPr>
            <p:cNvPr id="393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28A74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4" name="6"/>
            <p:cNvSpPr txBox="1"/>
            <p:nvPr/>
          </p:nvSpPr>
          <p:spPr>
            <a:xfrm>
              <a:off x="112675" y="78303"/>
              <a:ext cx="231850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396" name="TextBox 32"/>
          <p:cNvSpPr txBox="1"/>
          <p:nvPr/>
        </p:nvSpPr>
        <p:spPr>
          <a:xfrm>
            <a:off x="1417319" y="5193791"/>
            <a:ext cx="265176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8A745"/>
                </a:solidFill>
              </a:defRPr>
            </a:lvl1pPr>
          </a:lstStyle>
          <a:p>
            <a:pPr/>
            <a:r>
              <a:t>Channel Consumer</a:t>
            </a:r>
          </a:p>
        </p:txBody>
      </p:sp>
      <p:sp>
        <p:nvSpPr>
          <p:cNvPr id="397" name="TextBox 33"/>
          <p:cNvSpPr txBox="1"/>
          <p:nvPr/>
        </p:nvSpPr>
        <p:spPr>
          <a:xfrm>
            <a:off x="4434840" y="5193791"/>
            <a:ext cx="6766560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Sends via SendGrid (email)</a:t>
            </a:r>
            <a:br/>
            <a:r>
              <a:t>or Twilio (SMS)</a:t>
            </a:r>
          </a:p>
        </p:txBody>
      </p:sp>
      <p:sp>
        <p:nvSpPr>
          <p:cNvPr id="398" name="Rounded Rectangle 34"/>
          <p:cNvSpPr/>
          <p:nvPr/>
        </p:nvSpPr>
        <p:spPr>
          <a:xfrm>
            <a:off x="457200" y="5870447"/>
            <a:ext cx="11247120" cy="6400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9" name="Rectangle 35"/>
          <p:cNvSpPr/>
          <p:nvPr/>
        </p:nvSpPr>
        <p:spPr>
          <a:xfrm>
            <a:off x="457200" y="5870447"/>
            <a:ext cx="73153" cy="640081"/>
          </a:xfrm>
          <a:prstGeom prst="rect">
            <a:avLst/>
          </a:prstGeom>
          <a:solidFill>
            <a:srgbClr val="8888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02" name="Oval 36"/>
          <p:cNvGrpSpPr/>
          <p:nvPr/>
        </p:nvGrpSpPr>
        <p:grpSpPr>
          <a:xfrm>
            <a:off x="685800" y="5961888"/>
            <a:ext cx="457200" cy="457201"/>
            <a:chOff x="0" y="0"/>
            <a:chExt cx="457200" cy="457200"/>
          </a:xfrm>
        </p:grpSpPr>
        <p:sp>
          <p:nvSpPr>
            <p:cNvPr id="400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88888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1" name="7"/>
            <p:cNvSpPr txBox="1"/>
            <p:nvPr/>
          </p:nvSpPr>
          <p:spPr>
            <a:xfrm>
              <a:off x="112675" y="78303"/>
              <a:ext cx="231850" cy="3005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403" name="TextBox 37"/>
          <p:cNvSpPr txBox="1"/>
          <p:nvPr/>
        </p:nvSpPr>
        <p:spPr>
          <a:xfrm>
            <a:off x="1417319" y="5943600"/>
            <a:ext cx="2651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888888"/>
                </a:solidFill>
              </a:defRPr>
            </a:lvl1pPr>
          </a:lstStyle>
          <a:p>
            <a:pPr/>
            <a:r>
              <a:t>Delivery Log</a:t>
            </a:r>
          </a:p>
        </p:txBody>
      </p:sp>
      <p:sp>
        <p:nvSpPr>
          <p:cNvPr id="404" name="TextBox 38"/>
          <p:cNvSpPr txBox="1"/>
          <p:nvPr/>
        </p:nvSpPr>
        <p:spPr>
          <a:xfrm>
            <a:off x="4434840" y="5943600"/>
            <a:ext cx="676656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Updates status in DB</a:t>
            </a:r>
            <a:br/>
            <a:r>
              <a:t>(pending → delivered/failed)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Microservices Architecture</a:t>
            </a:r>
          </a:p>
        </p:txBody>
      </p:sp>
      <p:sp>
        <p:nvSpPr>
          <p:cNvPr id="408" name="Rectangle 3"/>
          <p:cNvSpPr/>
          <p:nvPr/>
        </p:nvSpPr>
        <p:spPr>
          <a:xfrm>
            <a:off x="731519" y="1051560"/>
            <a:ext cx="2743201" cy="45721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Rounded Rectangle 4"/>
          <p:cNvSpPr/>
          <p:nvPr/>
        </p:nvSpPr>
        <p:spPr>
          <a:xfrm>
            <a:off x="457200" y="1463039"/>
            <a:ext cx="3566160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0" name="Rectangle 5"/>
          <p:cNvSpPr/>
          <p:nvPr/>
        </p:nvSpPr>
        <p:spPr>
          <a:xfrm>
            <a:off x="457199" y="1463039"/>
            <a:ext cx="3566161" cy="54865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TextBox 6"/>
          <p:cNvSpPr txBox="1"/>
          <p:nvPr/>
        </p:nvSpPr>
        <p:spPr>
          <a:xfrm>
            <a:off x="640079" y="1645920"/>
            <a:ext cx="320040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007BFF"/>
                </a:solidFill>
              </a:defRPr>
            </a:lvl1pPr>
          </a:lstStyle>
          <a:p>
            <a:pPr/>
            <a:r>
              <a:t>Notification Service</a:t>
            </a:r>
          </a:p>
        </p:txBody>
      </p:sp>
      <p:sp>
        <p:nvSpPr>
          <p:cNvPr id="412" name="Rounded Rectangle 7"/>
          <p:cNvSpPr/>
          <p:nvPr/>
        </p:nvSpPr>
        <p:spPr>
          <a:xfrm>
            <a:off x="2926079" y="1600200"/>
            <a:ext cx="914401" cy="365760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TextBox 8"/>
          <p:cNvSpPr txBox="1"/>
          <p:nvPr/>
        </p:nvSpPr>
        <p:spPr>
          <a:xfrm>
            <a:off x="2971800" y="1627632"/>
            <a:ext cx="8229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007BFF"/>
                </a:solidFill>
              </a:defRPr>
            </a:lvl1pPr>
          </a:lstStyle>
          <a:p>
            <a:pPr/>
            <a:r>
              <a:t>:8080</a:t>
            </a:r>
          </a:p>
        </p:txBody>
      </p:sp>
      <p:sp>
        <p:nvSpPr>
          <p:cNvPr id="414" name="TextBox 9"/>
          <p:cNvSpPr txBox="1"/>
          <p:nvPr/>
        </p:nvSpPr>
        <p:spPr>
          <a:xfrm>
            <a:off x="640079" y="2148839"/>
            <a:ext cx="320040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API gateway, validates requests,</a:t>
            </a:r>
            <a:br/>
            <a:r>
              <a:t>deduplication, produces to Kafka</a:t>
            </a:r>
          </a:p>
        </p:txBody>
      </p:sp>
      <p:sp>
        <p:nvSpPr>
          <p:cNvPr id="415" name="Rounded Rectangle 10"/>
          <p:cNvSpPr/>
          <p:nvPr/>
        </p:nvSpPr>
        <p:spPr>
          <a:xfrm>
            <a:off x="4297679" y="1463039"/>
            <a:ext cx="35661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Rectangle 11"/>
          <p:cNvSpPr/>
          <p:nvPr/>
        </p:nvSpPr>
        <p:spPr>
          <a:xfrm>
            <a:off x="4297679" y="1463039"/>
            <a:ext cx="3566160" cy="54865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7" name="TextBox 12"/>
          <p:cNvSpPr txBox="1"/>
          <p:nvPr/>
        </p:nvSpPr>
        <p:spPr>
          <a:xfrm>
            <a:off x="4480560" y="1645920"/>
            <a:ext cx="32004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DC3545"/>
                </a:solidFill>
              </a:defRPr>
            </a:lvl1pPr>
          </a:lstStyle>
          <a:p>
            <a:pPr/>
            <a:r>
              <a:t>Priority Processor 1</a:t>
            </a:r>
          </a:p>
        </p:txBody>
      </p:sp>
      <p:sp>
        <p:nvSpPr>
          <p:cNvPr id="418" name="Rounded Rectangle 13"/>
          <p:cNvSpPr/>
          <p:nvPr/>
        </p:nvSpPr>
        <p:spPr>
          <a:xfrm>
            <a:off x="6766559" y="1600200"/>
            <a:ext cx="914401" cy="365760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TextBox 14"/>
          <p:cNvSpPr txBox="1"/>
          <p:nvPr/>
        </p:nvSpPr>
        <p:spPr>
          <a:xfrm>
            <a:off x="6812279" y="1627632"/>
            <a:ext cx="8229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DC3545"/>
                </a:solidFill>
              </a:defRPr>
            </a:lvl1pPr>
          </a:lstStyle>
          <a:p>
            <a:pPr/>
            <a:r>
              <a:t>:8081</a:t>
            </a:r>
          </a:p>
        </p:txBody>
      </p:sp>
      <p:sp>
        <p:nvSpPr>
          <p:cNvPr id="420" name="TextBox 15"/>
          <p:cNvSpPr txBox="1"/>
          <p:nvPr/>
        </p:nvSpPr>
        <p:spPr>
          <a:xfrm>
            <a:off x="4480560" y="2148839"/>
            <a:ext cx="320040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Consumes priority-1 topic,</a:t>
            </a:r>
            <a:br/>
            <a:r>
              <a:t>processes transactional notifications</a:t>
            </a:r>
          </a:p>
        </p:txBody>
      </p:sp>
      <p:sp>
        <p:nvSpPr>
          <p:cNvPr id="421" name="Rounded Rectangle 16"/>
          <p:cNvSpPr/>
          <p:nvPr/>
        </p:nvSpPr>
        <p:spPr>
          <a:xfrm>
            <a:off x="8138159" y="1463039"/>
            <a:ext cx="35661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Rectangle 17"/>
          <p:cNvSpPr/>
          <p:nvPr/>
        </p:nvSpPr>
        <p:spPr>
          <a:xfrm>
            <a:off x="8138159" y="1463039"/>
            <a:ext cx="3566160" cy="54865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18"/>
          <p:cNvSpPr txBox="1"/>
          <p:nvPr/>
        </p:nvSpPr>
        <p:spPr>
          <a:xfrm>
            <a:off x="8321039" y="1645920"/>
            <a:ext cx="32004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D7E14"/>
                </a:solidFill>
              </a:defRPr>
            </a:lvl1pPr>
          </a:lstStyle>
          <a:p>
            <a:pPr/>
            <a:r>
              <a:t>Priority Processor 2</a:t>
            </a:r>
          </a:p>
        </p:txBody>
      </p:sp>
      <p:sp>
        <p:nvSpPr>
          <p:cNvPr id="424" name="Rounded Rectangle 19"/>
          <p:cNvSpPr/>
          <p:nvPr/>
        </p:nvSpPr>
        <p:spPr>
          <a:xfrm>
            <a:off x="10607040" y="1600200"/>
            <a:ext cx="914401" cy="365760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TextBox 20"/>
          <p:cNvSpPr txBox="1"/>
          <p:nvPr/>
        </p:nvSpPr>
        <p:spPr>
          <a:xfrm>
            <a:off x="10652759" y="1627632"/>
            <a:ext cx="8229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FD7E14"/>
                </a:solidFill>
              </a:defRPr>
            </a:lvl1pPr>
          </a:lstStyle>
          <a:p>
            <a:pPr/>
            <a:r>
              <a:t>:8082</a:t>
            </a:r>
          </a:p>
        </p:txBody>
      </p:sp>
      <p:sp>
        <p:nvSpPr>
          <p:cNvPr id="426" name="TextBox 21"/>
          <p:cNvSpPr txBox="1"/>
          <p:nvPr/>
        </p:nvSpPr>
        <p:spPr>
          <a:xfrm>
            <a:off x="8321039" y="2148839"/>
            <a:ext cx="320040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Consumes priority-2 topic,</a:t>
            </a:r>
            <a:br/>
            <a:r>
              <a:t>processes informational notifications</a:t>
            </a:r>
          </a:p>
        </p:txBody>
      </p:sp>
      <p:sp>
        <p:nvSpPr>
          <p:cNvPr id="427" name="Rounded Rectangle 22"/>
          <p:cNvSpPr/>
          <p:nvPr/>
        </p:nvSpPr>
        <p:spPr>
          <a:xfrm>
            <a:off x="457200" y="4023359"/>
            <a:ext cx="3566160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Rectangle 23"/>
          <p:cNvSpPr/>
          <p:nvPr/>
        </p:nvSpPr>
        <p:spPr>
          <a:xfrm>
            <a:off x="457199" y="4023359"/>
            <a:ext cx="3566161" cy="54865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TextBox 24"/>
          <p:cNvSpPr txBox="1"/>
          <p:nvPr/>
        </p:nvSpPr>
        <p:spPr>
          <a:xfrm>
            <a:off x="640079" y="4206240"/>
            <a:ext cx="320040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007BFF"/>
                </a:solidFill>
              </a:defRPr>
            </a:lvl1pPr>
          </a:lstStyle>
          <a:p>
            <a:pPr/>
            <a:r>
              <a:t>Priority Processor 3</a:t>
            </a:r>
          </a:p>
        </p:txBody>
      </p:sp>
      <p:sp>
        <p:nvSpPr>
          <p:cNvPr id="430" name="Rounded Rectangle 25"/>
          <p:cNvSpPr/>
          <p:nvPr/>
        </p:nvSpPr>
        <p:spPr>
          <a:xfrm>
            <a:off x="2926079" y="4160520"/>
            <a:ext cx="914401" cy="3657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TextBox 26"/>
          <p:cNvSpPr txBox="1"/>
          <p:nvPr/>
        </p:nvSpPr>
        <p:spPr>
          <a:xfrm>
            <a:off x="2971800" y="4187952"/>
            <a:ext cx="822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007BFF"/>
                </a:solidFill>
              </a:defRPr>
            </a:lvl1pPr>
          </a:lstStyle>
          <a:p>
            <a:pPr/>
            <a:r>
              <a:t>:8083</a:t>
            </a:r>
          </a:p>
        </p:txBody>
      </p:sp>
      <p:sp>
        <p:nvSpPr>
          <p:cNvPr id="432" name="TextBox 27"/>
          <p:cNvSpPr txBox="1"/>
          <p:nvPr/>
        </p:nvSpPr>
        <p:spPr>
          <a:xfrm>
            <a:off x="640079" y="4709159"/>
            <a:ext cx="3200402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Consumes priority-3 topic,</a:t>
            </a:r>
            <a:br/>
            <a:r>
              <a:t>processes promotional notifications</a:t>
            </a:r>
          </a:p>
        </p:txBody>
      </p:sp>
      <p:sp>
        <p:nvSpPr>
          <p:cNvPr id="433" name="Rounded Rectangle 28"/>
          <p:cNvSpPr/>
          <p:nvPr/>
        </p:nvSpPr>
        <p:spPr>
          <a:xfrm>
            <a:off x="4297679" y="4023359"/>
            <a:ext cx="35661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Rectangle 29"/>
          <p:cNvSpPr/>
          <p:nvPr/>
        </p:nvSpPr>
        <p:spPr>
          <a:xfrm>
            <a:off x="4297679" y="4023359"/>
            <a:ext cx="3566160" cy="54865"/>
          </a:xfrm>
          <a:prstGeom prst="rect">
            <a:avLst/>
          </a:prstGeom>
          <a:solidFill>
            <a:srgbClr val="20C99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30"/>
          <p:cNvSpPr txBox="1"/>
          <p:nvPr/>
        </p:nvSpPr>
        <p:spPr>
          <a:xfrm>
            <a:off x="4480560" y="4206240"/>
            <a:ext cx="32004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20C997"/>
                </a:solidFill>
              </a:defRPr>
            </a:lvl1pPr>
          </a:lstStyle>
          <a:p>
            <a:pPr/>
            <a:r>
              <a:t>Email Consumer</a:t>
            </a:r>
          </a:p>
        </p:txBody>
      </p:sp>
      <p:sp>
        <p:nvSpPr>
          <p:cNvPr id="436" name="Rounded Rectangle 31"/>
          <p:cNvSpPr/>
          <p:nvPr/>
        </p:nvSpPr>
        <p:spPr>
          <a:xfrm>
            <a:off x="6766559" y="4160520"/>
            <a:ext cx="914401" cy="3657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TextBox 32"/>
          <p:cNvSpPr txBox="1"/>
          <p:nvPr/>
        </p:nvSpPr>
        <p:spPr>
          <a:xfrm>
            <a:off x="6812279" y="4187952"/>
            <a:ext cx="822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20C997"/>
                </a:solidFill>
              </a:defRPr>
            </a:lvl1pPr>
          </a:lstStyle>
          <a:p>
            <a:pPr/>
            <a:r>
              <a:t>:8090</a:t>
            </a:r>
          </a:p>
        </p:txBody>
      </p:sp>
      <p:sp>
        <p:nvSpPr>
          <p:cNvPr id="438" name="TextBox 33"/>
          <p:cNvSpPr txBox="1"/>
          <p:nvPr/>
        </p:nvSpPr>
        <p:spPr>
          <a:xfrm>
            <a:off x="4480560" y="4709159"/>
            <a:ext cx="320040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Consumes email-topic,</a:t>
            </a:r>
            <a:br/>
            <a:r>
              <a:t>sends via SendGrid API</a:t>
            </a:r>
          </a:p>
        </p:txBody>
      </p:sp>
      <p:sp>
        <p:nvSpPr>
          <p:cNvPr id="439" name="Rounded Rectangle 34"/>
          <p:cNvSpPr/>
          <p:nvPr/>
        </p:nvSpPr>
        <p:spPr>
          <a:xfrm>
            <a:off x="8138159" y="4023359"/>
            <a:ext cx="3566161" cy="219456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Rectangle 35"/>
          <p:cNvSpPr/>
          <p:nvPr/>
        </p:nvSpPr>
        <p:spPr>
          <a:xfrm>
            <a:off x="8138159" y="4023359"/>
            <a:ext cx="3566160" cy="54865"/>
          </a:xfrm>
          <a:prstGeom prst="rect">
            <a:avLst/>
          </a:prstGeom>
          <a:solidFill>
            <a:srgbClr val="6F42C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1" name="TextBox 36"/>
          <p:cNvSpPr txBox="1"/>
          <p:nvPr/>
        </p:nvSpPr>
        <p:spPr>
          <a:xfrm>
            <a:off x="8321039" y="4206240"/>
            <a:ext cx="320040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6F42C1"/>
                </a:solidFill>
              </a:defRPr>
            </a:lvl1pPr>
          </a:lstStyle>
          <a:p>
            <a:pPr/>
            <a:r>
              <a:t>SMS Consumer</a:t>
            </a:r>
          </a:p>
        </p:txBody>
      </p:sp>
      <p:sp>
        <p:nvSpPr>
          <p:cNvPr id="442" name="Rounded Rectangle 37"/>
          <p:cNvSpPr/>
          <p:nvPr/>
        </p:nvSpPr>
        <p:spPr>
          <a:xfrm>
            <a:off x="10607040" y="4160520"/>
            <a:ext cx="914401" cy="365761"/>
          </a:xfrm>
          <a:prstGeom prst="roundRect">
            <a:avLst>
              <a:gd name="adj" fmla="val 16667"/>
            </a:avLst>
          </a:prstGeom>
          <a:solidFill>
            <a:srgbClr val="0D15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TextBox 38"/>
          <p:cNvSpPr txBox="1"/>
          <p:nvPr/>
        </p:nvSpPr>
        <p:spPr>
          <a:xfrm>
            <a:off x="10652759" y="4187952"/>
            <a:ext cx="822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300">
                <a:solidFill>
                  <a:srgbClr val="6F42C1"/>
                </a:solidFill>
              </a:defRPr>
            </a:lvl1pPr>
          </a:lstStyle>
          <a:p>
            <a:pPr/>
            <a:r>
              <a:t>:8091</a:t>
            </a:r>
          </a:p>
        </p:txBody>
      </p:sp>
      <p:sp>
        <p:nvSpPr>
          <p:cNvPr id="444" name="TextBox 39"/>
          <p:cNvSpPr txBox="1"/>
          <p:nvPr/>
        </p:nvSpPr>
        <p:spPr>
          <a:xfrm>
            <a:off x="8321039" y="4709159"/>
            <a:ext cx="320040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Consumes sms-topic,</a:t>
            </a:r>
            <a:br/>
            <a:r>
              <a:t>sends via Twilio API</a:t>
            </a:r>
          </a:p>
        </p:txBody>
      </p:sp>
      <p:sp>
        <p:nvSpPr>
          <p:cNvPr id="445" name="TextBox 40"/>
          <p:cNvSpPr txBox="1"/>
          <p:nvPr/>
        </p:nvSpPr>
        <p:spPr>
          <a:xfrm>
            <a:off x="777239" y="6400800"/>
            <a:ext cx="99669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888888"/>
                </a:solidFill>
              </a:defRPr>
            </a:lvl1pPr>
          </a:lstStyle>
          <a:p>
            <a:pPr/>
            <a:r>
              <a:t>Each service runs independently — can be scaled, deployed, and restarted without affecting others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E83E8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8" name="TextBox 2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Scalability &amp; Rate Limiting</a:t>
            </a:r>
          </a:p>
        </p:txBody>
      </p:sp>
      <p:sp>
        <p:nvSpPr>
          <p:cNvPr id="449" name="Rectangle 3"/>
          <p:cNvSpPr/>
          <p:nvPr/>
        </p:nvSpPr>
        <p:spPr>
          <a:xfrm>
            <a:off x="731519" y="1051560"/>
            <a:ext cx="2743201" cy="45721"/>
          </a:xfrm>
          <a:prstGeom prst="rect">
            <a:avLst/>
          </a:prstGeom>
          <a:solidFill>
            <a:srgbClr val="E83E0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Rounded Rectangle 4"/>
          <p:cNvSpPr/>
          <p:nvPr/>
        </p:nvSpPr>
        <p:spPr>
          <a:xfrm>
            <a:off x="457200" y="1463039"/>
            <a:ext cx="5303521" cy="47548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1" name="Rectangle 5"/>
          <p:cNvSpPr/>
          <p:nvPr/>
        </p:nvSpPr>
        <p:spPr>
          <a:xfrm>
            <a:off x="457199" y="1463039"/>
            <a:ext cx="5303522" cy="73153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2" name="TextBox 6"/>
          <p:cNvSpPr txBox="1"/>
          <p:nvPr/>
        </p:nvSpPr>
        <p:spPr>
          <a:xfrm>
            <a:off x="777240" y="1691639"/>
            <a:ext cx="466344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007BFF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📈  </a:t>
            </a:r>
            <a:r>
              <a:t>Scalability Design</a:t>
            </a:r>
          </a:p>
        </p:txBody>
      </p:sp>
      <p:sp>
        <p:nvSpPr>
          <p:cNvPr id="453" name="TextBox 7"/>
          <p:cNvSpPr txBox="1"/>
          <p:nvPr/>
        </p:nvSpPr>
        <p:spPr>
          <a:xfrm>
            <a:off x="777240" y="2286000"/>
            <a:ext cx="4663440" cy="2261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Asynchronous processing — API returns immediately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Kafka partitions enable parallel consumption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Independent services scale per channel demand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Stateless processors — horizontal scaling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Priority isolation — transactional not blocked by promo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Database connection pooling (HikariCP)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Docker Compose for containerized deployment</a:t>
            </a:r>
          </a:p>
        </p:txBody>
      </p:sp>
      <p:sp>
        <p:nvSpPr>
          <p:cNvPr id="454" name="Rounded Rectangle 8"/>
          <p:cNvSpPr/>
          <p:nvPr/>
        </p:nvSpPr>
        <p:spPr>
          <a:xfrm>
            <a:off x="6217920" y="1463039"/>
            <a:ext cx="5303521" cy="47548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5" name="Rectangle 9"/>
          <p:cNvSpPr/>
          <p:nvPr/>
        </p:nvSpPr>
        <p:spPr>
          <a:xfrm>
            <a:off x="6217920" y="1463039"/>
            <a:ext cx="5303521" cy="73153"/>
          </a:xfrm>
          <a:prstGeom prst="rect">
            <a:avLst/>
          </a:prstGeom>
          <a:solidFill>
            <a:srgbClr val="DC35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6" name="TextBox 10"/>
          <p:cNvSpPr txBox="1"/>
          <p:nvPr/>
        </p:nvSpPr>
        <p:spPr>
          <a:xfrm>
            <a:off x="6537959" y="1691639"/>
            <a:ext cx="4663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DC3545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🚦  </a:t>
            </a:r>
            <a:r>
              <a:t>Rate Limiting Strategy</a:t>
            </a:r>
          </a:p>
        </p:txBody>
      </p:sp>
      <p:sp>
        <p:nvSpPr>
          <p:cNvPr id="457" name="TextBox 11"/>
          <p:cNvSpPr txBox="1"/>
          <p:nvPr/>
        </p:nvSpPr>
        <p:spPr>
          <a:xfrm>
            <a:off x="6537959" y="2286000"/>
            <a:ext cx="4663441" cy="2261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Redis-based rate limiting for API calls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Per-vendor rate limit handling (SendGrid, Twilio)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Exponential backoff on 429 Too Many Requests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Queue-based buffering during rate limit windows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Graceful degradation — queue instead of drop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Configurable rate limits per provider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Monitoring via delivery_logs table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ctangle 1"/>
          <p:cNvSpPr/>
          <p:nvPr/>
        </p:nvSpPr>
        <p:spPr>
          <a:xfrm>
            <a:off x="-1" y="0"/>
            <a:ext cx="12191697" cy="54864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Rectangle 2"/>
          <p:cNvSpPr/>
          <p:nvPr/>
        </p:nvSpPr>
        <p:spPr>
          <a:xfrm>
            <a:off x="-1" y="6784847"/>
            <a:ext cx="12191697" cy="73153"/>
          </a:xfrm>
          <a:prstGeom prst="rect">
            <a:avLst/>
          </a:prstGeom>
          <a:solidFill>
            <a:srgbClr val="007B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1" name="TextBox 3"/>
          <p:cNvSpPr txBox="1"/>
          <p:nvPr/>
        </p:nvSpPr>
        <p:spPr>
          <a:xfrm>
            <a:off x="777239" y="365759"/>
            <a:ext cx="9966961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Conclusion &amp; Future Enhancements</a:t>
            </a:r>
          </a:p>
        </p:txBody>
      </p:sp>
      <p:sp>
        <p:nvSpPr>
          <p:cNvPr id="462" name="Rectangle 4"/>
          <p:cNvSpPr/>
          <p:nvPr/>
        </p:nvSpPr>
        <p:spPr>
          <a:xfrm>
            <a:off x="731519" y="1051560"/>
            <a:ext cx="3200401" cy="45721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Rounded Rectangle 5"/>
          <p:cNvSpPr/>
          <p:nvPr/>
        </p:nvSpPr>
        <p:spPr>
          <a:xfrm>
            <a:off x="457200" y="1463039"/>
            <a:ext cx="5303521" cy="47548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4" name="Rectangle 6"/>
          <p:cNvSpPr/>
          <p:nvPr/>
        </p:nvSpPr>
        <p:spPr>
          <a:xfrm>
            <a:off x="457199" y="1463039"/>
            <a:ext cx="5303522" cy="73153"/>
          </a:xfrm>
          <a:prstGeom prst="rect">
            <a:avLst/>
          </a:prstGeom>
          <a:solidFill>
            <a:srgbClr val="28A74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TextBox 7"/>
          <p:cNvSpPr txBox="1"/>
          <p:nvPr/>
        </p:nvSpPr>
        <p:spPr>
          <a:xfrm>
            <a:off x="777240" y="1691639"/>
            <a:ext cx="4663440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28A745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  </a:t>
            </a:r>
            <a:r>
              <a:t>Key Takeaways</a:t>
            </a:r>
          </a:p>
        </p:txBody>
      </p:sp>
      <p:sp>
        <p:nvSpPr>
          <p:cNvPr id="466" name="TextBox 8"/>
          <p:cNvSpPr txBox="1"/>
          <p:nvPr/>
        </p:nvSpPr>
        <p:spPr>
          <a:xfrm>
            <a:off x="777240" y="2286000"/>
            <a:ext cx="4663440" cy="2490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Scalable microservices architecture with Kafka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Priority-based processing ensures critical alerts are delivered first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Multi-channel support (Email + SMS) with extensible design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User preferences and duplicate prevention built-in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Asynchronous processing for non-blocking API responses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Independent scaling per service and channel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End-to-end tested with SendGrid &amp; Twilio integration</a:t>
            </a:r>
          </a:p>
        </p:txBody>
      </p:sp>
      <p:sp>
        <p:nvSpPr>
          <p:cNvPr id="467" name="Rounded Rectangle 9"/>
          <p:cNvSpPr/>
          <p:nvPr/>
        </p:nvSpPr>
        <p:spPr>
          <a:xfrm>
            <a:off x="6217920" y="1463039"/>
            <a:ext cx="5303521" cy="4754881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8" name="Rectangle 10"/>
          <p:cNvSpPr/>
          <p:nvPr/>
        </p:nvSpPr>
        <p:spPr>
          <a:xfrm>
            <a:off x="6217920" y="1463039"/>
            <a:ext cx="5303521" cy="73153"/>
          </a:xfrm>
          <a:prstGeom prst="rect">
            <a:avLst/>
          </a:prstGeom>
          <a:solidFill>
            <a:srgbClr val="FD7E1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11"/>
          <p:cNvSpPr txBox="1"/>
          <p:nvPr/>
        </p:nvSpPr>
        <p:spPr>
          <a:xfrm>
            <a:off x="6537959" y="1691639"/>
            <a:ext cx="4663441" cy="47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>
                <a:solidFill>
                  <a:srgbClr val="FD7E14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🚀  </a:t>
            </a:r>
            <a:r>
              <a:t>Future Enhancements</a:t>
            </a:r>
          </a:p>
        </p:txBody>
      </p:sp>
      <p:sp>
        <p:nvSpPr>
          <p:cNvPr id="470" name="TextBox 12"/>
          <p:cNvSpPr txBox="1"/>
          <p:nvPr/>
        </p:nvSpPr>
        <p:spPr>
          <a:xfrm>
            <a:off x="6537959" y="2286000"/>
            <a:ext cx="4663441" cy="2261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Push notification integration (FCM/APNs)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WebSocket support for real-time notifications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Retry mechanism with dead letter queues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Monitoring dashboard (Grafana + Prometheus)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Kubernetes deployment with auto-scaling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Webhook support for delivery status callbacks</a:t>
            </a:r>
          </a:p>
          <a:p>
            <a:pPr>
              <a:spcBef>
                <a:spcPts val="800"/>
              </a:spcBef>
              <a:defRPr sz="1400">
                <a:solidFill>
                  <a:srgbClr val="CCCCCC"/>
                </a:solidFill>
              </a:defRPr>
            </a:pPr>
            <a:r>
              <a:t>Multi-tenancy support for SaaS platforms</a:t>
            </a:r>
          </a:p>
        </p:txBody>
      </p:sp>
      <p:sp>
        <p:nvSpPr>
          <p:cNvPr id="471" name="TextBox 13"/>
          <p:cNvSpPr txBox="1"/>
          <p:nvPr/>
        </p:nvSpPr>
        <p:spPr>
          <a:xfrm>
            <a:off x="960119" y="6400800"/>
            <a:ext cx="9966961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400">
                <a:solidFill>
                  <a:srgbClr val="888888"/>
                </a:solidFill>
              </a:defRPr>
            </a:lvl1pPr>
          </a:lstStyle>
          <a:p>
            <a:pPr/>
            <a:r>
              <a:t>GitHub: github.com/aryannnn17/notification-system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